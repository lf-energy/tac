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Maven Pro" pitchFamily="2" charset="77"/>
      <p:regular r:id="rId17"/>
      <p:bold r:id="rId18"/>
    </p:embeddedFont>
    <p:embeddedFont>
      <p:font typeface="Maven Pro Medium" pitchFamily="2" charset="7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6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6da59f62c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f6da59f62c_1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f6da59f62c_1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7b2dc2c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57b2dc2c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57b2dc2c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6da59f62c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f6da59f62c_1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f6da59f62c_1_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ff77bb2a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8ff77bb2a5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28ff77bb2a5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0eee306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e0eee3060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0eee3060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ff77bb2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28ff77bb2a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28ff77bb2a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ff77bb2a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8ff77bb2a5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28ff77bb2a5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8ff77bb2a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8ff77bb2a5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28ff77bb2a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f1686e7dd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f1686e7ddc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f1686e7ddc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24763" y="1846221"/>
            <a:ext cx="4471615" cy="58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42900" y="2753591"/>
            <a:ext cx="8435475" cy="170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64"/>
              </a:buClr>
              <a:buSzPts val="2700"/>
              <a:buFont typeface="Century Gothic"/>
              <a:buNone/>
              <a:defRPr sz="2700" b="0" i="0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Block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462708" y="375951"/>
            <a:ext cx="8155125" cy="96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sz="2700" b="0" i="0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462709" y="1135380"/>
            <a:ext cx="8155125" cy="3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Section 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143000" y="1421175"/>
            <a:ext cx="6858000" cy="5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4"/>
              </a:buClr>
              <a:buSzPts val="3300"/>
              <a:buFont typeface="Century Gothic"/>
              <a:buNone/>
              <a:defRPr sz="3300" b="0">
                <a:solidFill>
                  <a:srgbClr val="00376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58302" y="3533522"/>
            <a:ext cx="2830736" cy="37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42900" y="685800"/>
            <a:ext cx="8435475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64"/>
              </a:buClr>
              <a:buSzPts val="3000"/>
              <a:buFont typeface="Century Gothic"/>
              <a:buNone/>
              <a:defRPr sz="3000" b="0" i="0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1">
  <p:cSld name="Statement 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>
            <a:spLocks noGrp="1"/>
          </p:cNvSpPr>
          <p:nvPr>
            <p:ph type="pic" idx="2"/>
          </p:nvPr>
        </p:nvSpPr>
        <p:spPr>
          <a:xfrm>
            <a:off x="0" y="1644104"/>
            <a:ext cx="9144000" cy="3499425"/>
          </a:xfrm>
          <a:prstGeom prst="rect">
            <a:avLst/>
          </a:prstGeom>
          <a:noFill/>
          <a:ln>
            <a:noFill/>
          </a:ln>
        </p:spPr>
      </p:sp>
      <p:pic>
        <p:nvPicPr>
          <p:cNvPr id="73" name="Google Shape;73;p19" descr="A picture containing drawing, tab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72203" y="2203703"/>
            <a:ext cx="5799596" cy="736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9" descr="A picture containing drawing, tab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142" y="491474"/>
            <a:ext cx="5799596" cy="736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tement 1">
  <p:cSld name="1_Statement 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-1" y="0"/>
            <a:ext cx="9144000" cy="14789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342900" y="342900"/>
            <a:ext cx="5844825" cy="73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000"/>
              <a:buFont typeface="Century Gothic"/>
              <a:buNone/>
              <a:defRPr sz="3000" b="0" i="0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>
            <a:spLocks noGrp="1"/>
          </p:cNvSpPr>
          <p:nvPr>
            <p:ph type="pic" idx="2"/>
          </p:nvPr>
        </p:nvSpPr>
        <p:spPr>
          <a:xfrm>
            <a:off x="0" y="1073114"/>
            <a:ext cx="9144000" cy="3573675"/>
          </a:xfrm>
          <a:prstGeom prst="rect">
            <a:avLst/>
          </a:prstGeom>
          <a:noFill/>
          <a:ln>
            <a:noFill/>
          </a:ln>
        </p:spPr>
      </p:sp>
      <p:pic>
        <p:nvPicPr>
          <p:cNvPr id="81" name="Google Shape;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462708" y="375951"/>
            <a:ext cx="8180100" cy="96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sz="27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21"/>
          <p:cNvCxnSpPr/>
          <p:nvPr/>
        </p:nvCxnSpPr>
        <p:spPr>
          <a:xfrm rot="10800000">
            <a:off x="3066335" y="1440090"/>
            <a:ext cx="0" cy="339480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" name="Google Shape;86;p21"/>
          <p:cNvCxnSpPr/>
          <p:nvPr/>
        </p:nvCxnSpPr>
        <p:spPr>
          <a:xfrm rot="10800000">
            <a:off x="6077665" y="1440090"/>
            <a:ext cx="0" cy="339480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342899" y="1211580"/>
            <a:ext cx="2468925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3326130" y="1211580"/>
            <a:ext cx="2468925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3"/>
          </p:nvPr>
        </p:nvSpPr>
        <p:spPr>
          <a:xfrm>
            <a:off x="6309360" y="1211580"/>
            <a:ext cx="2468925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90" name="Google Shape;9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/Image">
  <p:cSld name="One Column/Imag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342899" y="1440180"/>
            <a:ext cx="3875625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42900" y="342900"/>
            <a:ext cx="3875625" cy="96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sz="27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96" name="Google Shape;9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2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/Image Black">
  <p:cSld name="Two Column/Image Blac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5143500" y="342900"/>
            <a:ext cx="3429000" cy="449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3"/>
          </p:nvPr>
        </p:nvSpPr>
        <p:spPr>
          <a:xfrm>
            <a:off x="571500" y="342900"/>
            <a:ext cx="3429000" cy="449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>
            <a:spLocks noGrp="1"/>
          </p:cNvSpPr>
          <p:nvPr>
            <p:ph type="title"/>
          </p:nvPr>
        </p:nvSpPr>
        <p:spPr>
          <a:xfrm>
            <a:off x="462708" y="375951"/>
            <a:ext cx="8180100" cy="96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sz="27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06" name="Google Shape;10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4831910"/>
            <a:ext cx="1465640" cy="18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/>
          <p:nvPr/>
        </p:nvSpPr>
        <p:spPr>
          <a:xfrm>
            <a:off x="7165424" y="4831900"/>
            <a:ext cx="1732725" cy="2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lvl="2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- Blank no logo">
  <p:cSld name="BLANK_1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ldNum" idx="12"/>
          </p:nvPr>
        </p:nvSpPr>
        <p:spPr>
          <a:xfrm>
            <a:off x="8662175" y="4788400"/>
            <a:ext cx="406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4F525D"/>
                </a:solidFill>
              </a:defRPr>
            </a:lvl1pPr>
            <a:lvl2pPr lvl="1" rtl="0">
              <a:buNone/>
              <a:defRPr>
                <a:solidFill>
                  <a:srgbClr val="4F525D"/>
                </a:solidFill>
              </a:defRPr>
            </a:lvl2pPr>
            <a:lvl3pPr lvl="2" rtl="0">
              <a:buNone/>
              <a:defRPr>
                <a:solidFill>
                  <a:srgbClr val="4F525D"/>
                </a:solidFill>
              </a:defRPr>
            </a:lvl3pPr>
            <a:lvl4pPr lvl="3" rtl="0">
              <a:buNone/>
              <a:defRPr>
                <a:solidFill>
                  <a:srgbClr val="4F525D"/>
                </a:solidFill>
              </a:defRPr>
            </a:lvl4pPr>
            <a:lvl5pPr lvl="4" rtl="0">
              <a:buNone/>
              <a:defRPr>
                <a:solidFill>
                  <a:srgbClr val="4F525D"/>
                </a:solidFill>
              </a:defRPr>
            </a:lvl5pPr>
            <a:lvl6pPr lvl="5" rtl="0">
              <a:buNone/>
              <a:defRPr>
                <a:solidFill>
                  <a:srgbClr val="4F525D"/>
                </a:solidFill>
              </a:defRPr>
            </a:lvl6pPr>
            <a:lvl7pPr lvl="6" rtl="0">
              <a:buNone/>
              <a:defRPr>
                <a:solidFill>
                  <a:srgbClr val="4F525D"/>
                </a:solidFill>
              </a:defRPr>
            </a:lvl7pPr>
            <a:lvl8pPr lvl="7" rtl="0">
              <a:buNone/>
              <a:defRPr>
                <a:solidFill>
                  <a:srgbClr val="4F525D"/>
                </a:solidFill>
              </a:defRPr>
            </a:lvl8pPr>
            <a:lvl9pPr lvl="8" rtl="0">
              <a:buNone/>
              <a:defRPr>
                <a:solidFill>
                  <a:srgbClr val="4F525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311700" y="4498550"/>
            <a:ext cx="7971900" cy="50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4F525D"/>
                </a:solidFill>
              </a:defRPr>
            </a:lvl1pPr>
            <a:lvl2pPr lvl="1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2pPr>
            <a:lvl3pPr lvl="2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3pPr>
            <a:lvl4pPr lvl="3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4pPr>
            <a:lvl5pPr lvl="4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5pPr>
            <a:lvl6pPr lvl="5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6pPr>
            <a:lvl7pPr lvl="6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7pPr>
            <a:lvl8pPr lvl="7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8pPr>
            <a:lvl9pPr lvl="8" rtl="0">
              <a:spcBef>
                <a:spcPts val="900"/>
              </a:spcBef>
              <a:spcAft>
                <a:spcPts val="0"/>
              </a:spcAft>
              <a:buNone/>
              <a:defRPr>
                <a:solidFill>
                  <a:srgbClr val="4F52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62708" y="375951"/>
            <a:ext cx="8180100" cy="96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000"/>
              <a:buFont typeface="Century Gothic"/>
              <a:buNone/>
              <a:defRPr sz="30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62708" y="1440180"/>
            <a:ext cx="8180100" cy="326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6">
          <p15:clr>
            <a:srgbClr val="F26B43"/>
          </p15:clr>
        </p15:guide>
        <p15:guide id="4" orient="horz" pos="216">
          <p15:clr>
            <a:srgbClr val="F26B43"/>
          </p15:clr>
        </p15:guide>
        <p15:guide id="5" pos="5544">
          <p15:clr>
            <a:srgbClr val="F26B43"/>
          </p15:clr>
        </p15:guide>
        <p15:guide id="6" orient="horz" pos="305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eemeter/eemeter/blob/master/CHANGELOG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pendsm.energy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342900" y="2753591"/>
            <a:ext cx="8435475" cy="170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3400">
                <a:latin typeface="Maven Pro"/>
                <a:ea typeface="Maven Pro"/>
                <a:cs typeface="Maven Pro"/>
                <a:sym typeface="Maven Pro"/>
              </a:rPr>
              <a:t>TAC Annual Review</a:t>
            </a:r>
            <a:endParaRPr sz="34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3400">
                <a:latin typeface="Maven Pro"/>
                <a:ea typeface="Maven Pro"/>
                <a:cs typeface="Maven Pro"/>
                <a:sym typeface="Maven Pro"/>
              </a:rPr>
              <a:t>OpenDSM</a:t>
            </a:r>
            <a:endParaRPr sz="34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body" idx="1"/>
          </p:nvPr>
        </p:nvSpPr>
        <p:spPr>
          <a:xfrm>
            <a:off x="462700" y="1135375"/>
            <a:ext cx="8522400" cy="365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The current activity of the project, including releases, adoption, and committer/contribution growth and diversity.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Releases</a:t>
            </a: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: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1.2.7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Most contributions from Recurve, Two outside contributors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Several organizations interested in OpenDSM beyond contributors: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National Renewable Energy Laboratory (NREL)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CLEAResult, DNV, Enerva, E Source, WattCarbon, Resilient Edge, Evergreen Energy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OpenEAC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29" name="Google Shape;1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6254250" y="71550"/>
            <a:ext cx="28359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Current Activity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462700" y="1135375"/>
            <a:ext cx="8522400" cy="365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Completed working group initiative - Hourly model (accepted)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Automatic segmentation of day type (summer work day, fall weekend, etc)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Adds solar irradiance for solar PV generation buildings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Adaptive downweighting of outliers during model fit for each building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5x faster than previous hourly model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Working group attendees peaked at ~50, regularly 20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Maven Pro"/>
              <a:buChar char="•"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Working group currently on hiatus 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7" name="Google Shape;137;p29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>
            <a:off x="6254250" y="71550"/>
            <a:ext cx="28359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Current Activity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body" idx="1"/>
          </p:nvPr>
        </p:nvSpPr>
        <p:spPr>
          <a:xfrm>
            <a:off x="1783150" y="3763050"/>
            <a:ext cx="6449400" cy="386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Old model:		Good on sunny days because majority of training data is sunny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New model:	Good on both sunny and cloudy days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6" name="Google Shape;146;p30"/>
          <p:cNvSpPr txBox="1">
            <a:spLocks noGrp="1"/>
          </p:cNvSpPr>
          <p:nvPr>
            <p:ph type="title"/>
          </p:nvPr>
        </p:nvSpPr>
        <p:spPr>
          <a:xfrm>
            <a:off x="6254250" y="71550"/>
            <a:ext cx="28359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Current Activity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47" name="Google Shape;1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925" y="1487425"/>
            <a:ext cx="6414950" cy="19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30"/>
          <p:cNvCxnSpPr/>
          <p:nvPr/>
        </p:nvCxnSpPr>
        <p:spPr>
          <a:xfrm rot="10800000">
            <a:off x="6464450" y="2572650"/>
            <a:ext cx="296400" cy="296400"/>
          </a:xfrm>
          <a:prstGeom prst="straightConnector1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>
            <a:off x="1597275" y="1155975"/>
            <a:ext cx="6449400" cy="386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aven Pro"/>
                <a:ea typeface="Maven Pro"/>
                <a:cs typeface="Maven Pro"/>
                <a:sym typeface="Maven Pro"/>
              </a:rPr>
              <a:t>Test data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1" name="Google Shape;151;p30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>
            <a:spLocks noGrp="1"/>
          </p:cNvSpPr>
          <p:nvPr>
            <p:ph type="title"/>
          </p:nvPr>
        </p:nvSpPr>
        <p:spPr>
          <a:xfrm>
            <a:off x="6254250" y="71550"/>
            <a:ext cx="28359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Current Activity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58" name="Google Shape;15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0" name="Google Shape;16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150" y="1552219"/>
            <a:ext cx="6155701" cy="25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>
            <a:off x="1494150" y="1135375"/>
            <a:ext cx="6155700" cy="218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latin typeface="Maven Pro"/>
                <a:ea typeface="Maven Pro"/>
                <a:cs typeface="Maven Pro"/>
                <a:sym typeface="Maven Pro"/>
              </a:rPr>
              <a:t>New comprehensive website: </a:t>
            </a:r>
            <a:r>
              <a:rPr lang="en" sz="1400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5"/>
              </a:rPr>
              <a:t>opendsm.energy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>
            <a:spLocks noGrp="1"/>
          </p:cNvSpPr>
          <p:nvPr>
            <p:ph type="body" idx="1"/>
          </p:nvPr>
        </p:nvSpPr>
        <p:spPr>
          <a:xfrm>
            <a:off x="462700" y="1135375"/>
            <a:ext cx="8522400" cy="3649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The current activity of the project, including releases, adoption, and committer/contribution growth and diversity.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While models and documentation have been improving</a:t>
            </a:r>
            <a:endParaRPr sz="14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aven Pro"/>
              <a:buChar char="•"/>
            </a:pPr>
            <a:r>
              <a:rPr lang="en" sz="1400">
                <a:latin typeface="Maven Pro"/>
                <a:ea typeface="Maven Pro"/>
                <a:cs typeface="Maven Pro"/>
                <a:sym typeface="Maven Pro"/>
              </a:rPr>
              <a:t>Scale of use continues to grow and is stepping outside of just "performance" based programs</a:t>
            </a:r>
            <a:endParaRPr sz="14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ven Pro"/>
              <a:buChar char="•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In 2024-2028, CA energy efficiency programs must be measured where "feasible or cost effective"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ven Pro"/>
              <a:buChar char="•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TECH Clean California Best Practices Report: OpenDSM is foundational although not explicitly called out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ven Pro"/>
              <a:buChar char="•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Upper Peninsula Power Company (UPPCO, Michigan) measured savings pilot in early stages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ven Pro"/>
              <a:buChar char="•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Utilized in various programs in the western United States that cannot be disclosed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ven Pro"/>
              <a:buChar char="•"/>
            </a:pP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Performance-based regulations are back in vogue and open source is frequently a component of that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6254250" y="71550"/>
            <a:ext cx="28359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Current Activity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0" name="Google Shape;1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462700" y="902025"/>
            <a:ext cx="8155200" cy="3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Assessment of whether the project is fulfilling the requirements for the project to remain at its current stage </a:t>
            </a:r>
            <a:r>
              <a:rPr lang="en" sz="1400" i="1">
                <a:solidFill>
                  <a:srgbClr val="009ADE"/>
                </a:solidFill>
                <a:latin typeface="Maven Pro"/>
                <a:ea typeface="Maven Pro"/>
                <a:cs typeface="Maven Pro"/>
                <a:sym typeface="Maven Pro"/>
              </a:rPr>
              <a:t>[incubation]</a:t>
            </a: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, or be considered for a different stage</a:t>
            </a:r>
            <a:endParaRPr sz="105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Demonstrate growth in the project’s community, including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Growth in the number of commits to the project, number of project committers, and organizational diversity of contributions and committers (29 unique comitters, 3 + organizations). </a:t>
            </a:r>
            <a:r>
              <a:rPr lang="en" sz="1100">
                <a:solidFill>
                  <a:srgbClr val="172B4D"/>
                </a:solidFill>
                <a:highlight>
                  <a:schemeClr val="lt1"/>
                </a:highlight>
                <a:latin typeface="Maven Pro"/>
                <a:ea typeface="Maven Pro"/>
                <a:cs typeface="Maven Pro"/>
                <a:sym typeface="Maven Pro"/>
              </a:rPr>
              <a:t>✅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Production or planned production use of the project by at least two independent end users which, in the TAC’s judgment, are of adequate quality and scope. </a:t>
            </a:r>
            <a:r>
              <a:rPr lang="en" sz="1100">
                <a:solidFill>
                  <a:srgbClr val="172B4D"/>
                </a:solidFill>
                <a:highlight>
                  <a:schemeClr val="lt1"/>
                </a:highlight>
                <a:latin typeface="Maven Pro"/>
                <a:ea typeface="Maven Pro"/>
                <a:cs typeface="Maven Pro"/>
                <a:sym typeface="Maven Pro"/>
              </a:rPr>
              <a:t>✅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Technical Governance of the project is operational, as measured by: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A Technical Steering Committee with at least 5 members and a chairperson elected by the members, holding regular open meetings. </a:t>
            </a:r>
            <a:r>
              <a:rPr lang="en" sz="1100">
                <a:solidFill>
                  <a:srgbClr val="172B4D"/>
                </a:solidFill>
                <a:highlight>
                  <a:srgbClr val="FFFF00"/>
                </a:highlight>
                <a:latin typeface="Maven Pro"/>
                <a:ea typeface="Maven Pro"/>
                <a:cs typeface="Maven Pro"/>
                <a:sym typeface="Maven Pro"/>
              </a:rPr>
              <a:t>[ Have 5 members, TS acting as chair ]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Achievement of the OpenSSF Best Practice badge at the 'Silver' Level </a:t>
            </a:r>
            <a:r>
              <a:rPr lang="en" sz="1100">
                <a:solidFill>
                  <a:srgbClr val="172B4D"/>
                </a:solidFill>
                <a:highlight>
                  <a:srgbClr val="FFFF00"/>
                </a:highlight>
                <a:latin typeface="Maven Pro"/>
                <a:ea typeface="Maven Pro"/>
                <a:cs typeface="Maven Pro"/>
                <a:sym typeface="Maven Pro"/>
              </a:rPr>
              <a:t>(87%)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sz="11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5562775" y="71550"/>
            <a:ext cx="3527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Requirements - Early Adoption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8" name="Google Shape;178;p33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462700" y="902025"/>
            <a:ext cx="8155200" cy="3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Assessment of whether the project is fulfilling the requirements for the project to remain at its current stage </a:t>
            </a:r>
            <a:r>
              <a:rPr lang="en" sz="1400" i="1">
                <a:solidFill>
                  <a:srgbClr val="009ADE"/>
                </a:solidFill>
                <a:latin typeface="Maven Pro"/>
                <a:ea typeface="Maven Pro"/>
                <a:cs typeface="Maven Pro"/>
                <a:sym typeface="Maven Pro"/>
              </a:rPr>
              <a:t>[incubation]</a:t>
            </a: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, or be considered for a different stage</a:t>
            </a:r>
            <a:endParaRPr sz="105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Development of a growth plan, to be done in conjunction with their project mentor(s) at the TAC. This plan should address the following points: </a:t>
            </a:r>
            <a:r>
              <a:rPr lang="en" sz="1100">
                <a:solidFill>
                  <a:srgbClr val="172B4D"/>
                </a:solidFill>
                <a:highlight>
                  <a:srgbClr val="FFFF00"/>
                </a:highlight>
                <a:latin typeface="Maven Pro"/>
                <a:ea typeface="Maven Pro"/>
                <a:cs typeface="Maven Pro"/>
                <a:sym typeface="Maven Pro"/>
              </a:rPr>
              <a:t>[ - ]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Since these metrics can vary significantly depending on the type, scope, and size of a project, the TAC has final judgment over the level of activity that is adequate to meet these criteria.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Release plans for the next 18 months.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Target end-users.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Identification of any regulatory or standards body requirements for deployment, and plans for implementation.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Plans for growth of project contributors and committers to support the growth plan.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Identification of any infrastructure resources needed to fulfill the growth plan.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Presentation to the TAC of the project’s growth, technical governance, and growth plan. </a:t>
            </a:r>
            <a:r>
              <a:rPr lang="en" sz="1100">
                <a:solidFill>
                  <a:srgbClr val="172B4D"/>
                </a:solidFill>
                <a:highlight>
                  <a:srgbClr val="FFFF00"/>
                </a:highlight>
                <a:latin typeface="Maven Pro"/>
                <a:ea typeface="Maven Pro"/>
                <a:cs typeface="Maven Pro"/>
                <a:sym typeface="Maven Pro"/>
              </a:rPr>
              <a:t>[ - ]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72B4D"/>
              </a:buClr>
              <a:buSzPts val="1100"/>
              <a:buFont typeface="Maven Pro"/>
              <a:buChar char="●"/>
            </a:pPr>
            <a:r>
              <a:rPr lang="en" sz="1100">
                <a:solidFill>
                  <a:srgbClr val="172B4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Receive the affirmative majority vote of the TAC and Governing Board </a:t>
            </a:r>
            <a:r>
              <a:rPr lang="en" sz="1100">
                <a:solidFill>
                  <a:srgbClr val="172B4D"/>
                </a:solidFill>
                <a:highlight>
                  <a:srgbClr val="FFFF00"/>
                </a:highlight>
                <a:latin typeface="Maven Pro"/>
                <a:ea typeface="Maven Pro"/>
                <a:cs typeface="Maven Pro"/>
                <a:sym typeface="Maven Pro"/>
              </a:rPr>
              <a:t>[ - ]</a:t>
            </a:r>
            <a:endParaRPr sz="1100">
              <a:solidFill>
                <a:srgbClr val="172B4D"/>
              </a:solidFill>
              <a:highlight>
                <a:srgbClr val="FFFFFF"/>
              </a:highlight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sz="11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xfrm>
            <a:off x="5562775" y="71550"/>
            <a:ext cx="3527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Requirements - Early Adoption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462700" y="952775"/>
            <a:ext cx="8155200" cy="3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latin typeface="Maven Pro"/>
                <a:ea typeface="Maven Pro"/>
                <a:cs typeface="Maven Pro"/>
                <a:sym typeface="Maven Pro"/>
              </a:rPr>
              <a:t>Feedback on its experience as an LF Energy project, including benefits from being an LF Energy project and areas that the TAC and LFE staff can better support the project.</a:t>
            </a:r>
            <a:endParaRPr sz="1400" i="1"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300"/>
              <a:buFont typeface="Maven Pro Medium"/>
              <a:buChar char="•"/>
            </a:pPr>
            <a:r>
              <a:rPr lang="en" sz="1300">
                <a:latin typeface="Maven Pro Medium"/>
                <a:ea typeface="Maven Pro Medium"/>
                <a:cs typeface="Maven Pro Medium"/>
                <a:sym typeface="Maven Pro Medium"/>
              </a:rPr>
              <a:t>Experience as an LF Energy project has been positive.</a:t>
            </a:r>
            <a:endParaRPr sz="13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ven Pro"/>
              <a:buChar char="•"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Support in explaining open-source and its value to our industry</a:t>
            </a: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Maven Pro"/>
              <a:buChar char="•"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Provides reference point of "acceptance" for the market</a:t>
            </a: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Maven Pro"/>
              <a:buChar char="•"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Provides access point for the industry from a trusted source </a:t>
            </a: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Maven Pro"/>
              <a:buChar char="•"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Policy positioning for open-source transparency</a:t>
            </a: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Maven Pro"/>
              <a:buChar char="•"/>
            </a:pPr>
            <a:r>
              <a:rPr lang="en" sz="1100">
                <a:latin typeface="Maven Pro"/>
                <a:ea typeface="Maven Pro"/>
                <a:cs typeface="Maven Pro"/>
                <a:sym typeface="Maven Pro"/>
              </a:rPr>
              <a:t>Help with the website (domain, hosting videos, cookies, etc)</a:t>
            </a: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4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sz="11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5562775" y="71550"/>
            <a:ext cx="3527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Maven Pro"/>
                <a:ea typeface="Maven Pro"/>
                <a:cs typeface="Maven Pro"/>
                <a:sym typeface="Maven Pro"/>
              </a:rPr>
              <a:t>Feedback</a:t>
            </a:r>
            <a:endParaRPr sz="1800" i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6" name="Google Shape;196;p35"/>
          <p:cNvSpPr txBox="1">
            <a:spLocks noGrp="1"/>
          </p:cNvSpPr>
          <p:nvPr>
            <p:ph type="title"/>
          </p:nvPr>
        </p:nvSpPr>
        <p:spPr>
          <a:xfrm>
            <a:off x="2271495" y="415098"/>
            <a:ext cx="15264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aven Pro Medium"/>
                <a:ea typeface="Maven Pro Medium"/>
                <a:cs typeface="Maven Pro Medium"/>
                <a:sym typeface="Maven Pro Medium"/>
              </a:rPr>
              <a:t>Status</a:t>
            </a:r>
            <a:endParaRPr sz="295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5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97" name="Google Shape;19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40" y="330675"/>
            <a:ext cx="1974724" cy="47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F Energy PPTX - 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Macintosh PowerPoint</Application>
  <PresentationFormat>On-screen Show (16:9)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Maven Pro</vt:lpstr>
      <vt:lpstr>Maven Pro Medium</vt:lpstr>
      <vt:lpstr>Arial</vt:lpstr>
      <vt:lpstr>Century Gothic</vt:lpstr>
      <vt:lpstr>Simple Light</vt:lpstr>
      <vt:lpstr>LF Energy PPTX - White Background</vt:lpstr>
      <vt:lpstr>TAC Annual Review OpenDSM</vt:lpstr>
      <vt:lpstr>Status </vt:lpstr>
      <vt:lpstr>Status </vt:lpstr>
      <vt:lpstr>Current Activity</vt:lpstr>
      <vt:lpstr>Current Activity</vt:lpstr>
      <vt:lpstr>Current Activity</vt:lpstr>
      <vt:lpstr>Requirements - Early Adoption</vt:lpstr>
      <vt:lpstr>Requirements - Early Adoption</vt:lpstr>
      <vt:lpstr>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Yarille Ortiz</cp:lastModifiedBy>
  <cp:revision>1</cp:revision>
  <dcterms:modified xsi:type="dcterms:W3CDTF">2026-05-12T14:47:38Z</dcterms:modified>
</cp:coreProperties>
</file>