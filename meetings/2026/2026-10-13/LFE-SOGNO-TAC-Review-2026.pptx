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1" r:id="rId4"/>
  </p:sldMasterIdLst>
  <p:notesMasterIdLst>
    <p:notesMasterId r:id="rId31"/>
  </p:notesMasterIdLst>
  <p:sldIdLst>
    <p:sldId id="308" r:id="rId5"/>
    <p:sldId id="309" r:id="rId6"/>
    <p:sldId id="310" r:id="rId7"/>
    <p:sldId id="333" r:id="rId8"/>
    <p:sldId id="311" r:id="rId9"/>
    <p:sldId id="312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332" r:id="rId23"/>
    <p:sldId id="325" r:id="rId24"/>
    <p:sldId id="326" r:id="rId25"/>
    <p:sldId id="327" r:id="rId26"/>
    <p:sldId id="328" r:id="rId27"/>
    <p:sldId id="329" r:id="rId28"/>
    <p:sldId id="330" r:id="rId29"/>
    <p:sldId id="331" r:id="rId3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51DA740-01AA-BA3F-3812-B78134E18122}" name="sanket.gaikwad" initials="sa" userId="S::sanket.gaikwad_eonerc.rwth-aachen.de#ext#@fraunhofer.onmicrosoft.com::f0b7030e-f1e7-44f8-b6f5-01dbfe83f59d" providerId="AD"/>
  <p188:author id="{4F304A49-D5FD-CA78-525D-E24218F6F9C5}" name="Kulkarni, Pranav Jayant" initials="KP" userId="S::pranav.jayant.kulkarni@fit.fraunhofer.de::c5e4a8d0-99bd-4a16-93b3-f2f14894fb63" providerId="AD"/>
  <p188:author id="{FE7C3F4E-9CB1-B9B5-6B94-79BDBC7D52C1}" name="florian.oppermann" initials="fl" userId="S::florian.oppermann_eonerc.rwth-aachen.de#ext#@fraunhofer.onmicrosoft.com::fefb37fe-68b4-42a3-8e6b-4f86cf34d529" providerId="AD"/>
  <p188:author id="{1C72BF7A-0BFB-110C-C31C-E704D8A383A2}" name="Juan Galeano Martinez" initials="JGM" userId="S::fat27ehw7uwkvk52@m365.rwth-aachen.de::88f9c220-f7f1-4820-b502-ab5a5d8039ab" providerId="AD"/>
  <p188:author id="{F234B3B6-4825-B433-6B91-B3BDB0DE0079}" name="Antonello Monti" initials="AM" userId="b0417bb5302581e4" providerId="Windows Live"/>
  <p188:author id="{AAAA6AEB-A305-09DC-BE98-E6143167A0D4}" name="taeyoung.kim" initials="ta" userId="S::taeyoung.kim_eonerc.rwth-aachen.de#ext#@fraunhofer.onmicrosoft.com::9dabcb82-f48d-4edb-a55a-dc4488c3f143" providerId="AD"/>
  <p188:author id="{4CE66CF6-00AB-9964-8213-C59FB8759585}" name="Juan Galeano Martinez" initials="JM" userId="S::fat27ehw7uwkvk52_m365.rwth-aachen.de#ext#@fraunhofer.onmicrosoft.com::c01c23c8-2698-4230-816e-d7e5d1be37c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055978-D3DA-404E-AEAF-CDFA97141025}" v="2" dt="2026-10-06T14:11:33.4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ello Monti" userId="b0417bb5302581e4" providerId="LiveId" clId="{04A33A9F-5A7B-5950-BAD7-9231FCFDACC4}"/>
    <pc:docChg chg="addSld delSld modSld">
      <pc:chgData name="Antonello Monti" userId="b0417bb5302581e4" providerId="LiveId" clId="{04A33A9F-5A7B-5950-BAD7-9231FCFDACC4}" dt="2026-10-06T14:11:33.472" v="2"/>
      <pc:docMkLst>
        <pc:docMk/>
      </pc:docMkLst>
      <pc:sldChg chg="add del">
        <pc:chgData name="Antonello Monti" userId="b0417bb5302581e4" providerId="LiveId" clId="{04A33A9F-5A7B-5950-BAD7-9231FCFDACC4}" dt="2026-10-06T14:06:21.034" v="1"/>
        <pc:sldMkLst>
          <pc:docMk/>
          <pc:sldMk cId="3574196041" sldId="311"/>
        </pc:sldMkLst>
      </pc:sldChg>
      <pc:sldChg chg="add">
        <pc:chgData name="Antonello Monti" userId="b0417bb5302581e4" providerId="LiveId" clId="{04A33A9F-5A7B-5950-BAD7-9231FCFDACC4}" dt="2026-10-06T14:11:33.472" v="2"/>
        <pc:sldMkLst>
          <pc:docMk/>
          <pc:sldMk cId="149168402" sldId="33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c6a4dd1d01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gc6a4dd1d0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c5c945a8ed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c5c945a8ed_0_1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c5c945a8ed_0_1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c6a529b02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c6a529b02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c6a529b02b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c6a529b02b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c6a529b02b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c6a529b02b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5a4737ce16_2_3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5a4737ce16_2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ldNum" idx="12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2025" tIns="122025" rIns="122025" bIns="1220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2">
  <p:cSld name="Section 2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457200" y="914400"/>
            <a:ext cx="112473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Century Gothic"/>
              <a:buNone/>
              <a:defRPr sz="4000" b="0" i="0" cap="none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2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t" anchorCtr="0">
            <a:noAutofit/>
          </a:bodyPr>
          <a:lstStyle>
            <a:lvl1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 rtl="0">
              <a:lnSpc>
                <a:spcPct val="150000"/>
              </a:lnSpc>
              <a:spcBef>
                <a:spcPts val="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2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t" anchorCtr="0">
            <a:noAutofit/>
          </a:bodyPr>
          <a:lstStyle>
            <a:lvl1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 rtl="0">
              <a:lnSpc>
                <a:spcPct val="150000"/>
              </a:lnSpc>
              <a:spcBef>
                <a:spcPts val="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t" anchorCtr="0">
            <a:noAutofit/>
          </a:bodyPr>
          <a:lstStyle>
            <a:lvl1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 rtl="0">
              <a:lnSpc>
                <a:spcPct val="150000"/>
              </a:lnSpc>
              <a:spcBef>
                <a:spcPts val="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3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t" anchorCtr="0">
            <a:noAutofit/>
          </a:bodyPr>
          <a:lstStyle>
            <a:lvl1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 rtl="0">
              <a:lnSpc>
                <a:spcPct val="150000"/>
              </a:lnSpc>
              <a:spcBef>
                <a:spcPts val="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ldNum" idx="12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2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2025" tIns="122025" rIns="122025" bIns="1220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None/>
              <a:defRPr sz="56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None/>
              <a:defRPr sz="56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None/>
              <a:defRPr sz="56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None/>
              <a:defRPr sz="56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None/>
              <a:defRPr sz="56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None/>
              <a:defRPr sz="56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None/>
              <a:defRPr sz="56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None/>
              <a:defRPr sz="5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ctr" anchorCtr="0">
            <a:noAutofit/>
          </a:bodyPr>
          <a:lstStyle>
            <a:lvl1pPr marL="4572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 rtl="0">
              <a:lnSpc>
                <a:spcPct val="150000"/>
              </a:lnSpc>
              <a:spcBef>
                <a:spcPts val="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100"/>
              <a:buNone/>
              <a:defRPr sz="16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100"/>
              <a:buNone/>
              <a:defRPr sz="16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100"/>
              <a:buNone/>
              <a:defRPr sz="16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100"/>
              <a:buNone/>
              <a:defRPr sz="16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100"/>
              <a:buNone/>
              <a:defRPr sz="16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100"/>
              <a:buNone/>
              <a:defRPr sz="16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100"/>
              <a:buNone/>
              <a:defRPr sz="16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100"/>
              <a:buNone/>
              <a:defRPr sz="16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100"/>
              <a:buNone/>
              <a:defRPr sz="16100"/>
            </a:lvl9pPr>
          </a:lstStyle>
          <a:p>
            <a:r>
              <a:t>xx%</a:t>
            </a:r>
          </a:p>
        </p:txBody>
      </p:sp>
      <p:sp>
        <p:nvSpPr>
          <p:cNvPr id="59" name="Google Shape;59;p12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t" anchorCtr="0">
            <a:noAutofit/>
          </a:bodyPr>
          <a:lstStyle>
            <a:lvl1pPr marL="457200" lvl="0" indent="-38100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 rtl="0">
              <a:lnSpc>
                <a:spcPct val="150000"/>
              </a:lnSpc>
              <a:spcBef>
                <a:spcPts val="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3"/>
          <p:cNvPicPr preferRelativeResize="0"/>
          <p:nvPr/>
        </p:nvPicPr>
        <p:blipFill rotWithShape="1">
          <a:blip r:embed="rId3">
            <a:alphaModFix/>
          </a:blip>
          <a:srcRect t="7235" b="7243"/>
          <a:stretch/>
        </p:blipFill>
        <p:spPr>
          <a:xfrm>
            <a:off x="3099684" y="2461628"/>
            <a:ext cx="5962154" cy="77937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>
            <a:spLocks noGrp="1"/>
          </p:cNvSpPr>
          <p:nvPr>
            <p:ph type="title"/>
          </p:nvPr>
        </p:nvSpPr>
        <p:spPr>
          <a:xfrm>
            <a:off x="457200" y="3671455"/>
            <a:ext cx="11247300" cy="22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  <a:defRPr sz="3600" b="0" i="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1">
  <p:cSld name="Section 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ctrTitle"/>
          </p:nvPr>
        </p:nvSpPr>
        <p:spPr>
          <a:xfrm>
            <a:off x="1524000" y="1894900"/>
            <a:ext cx="9144000" cy="6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Century Gothic"/>
              <a:buNone/>
              <a:defRPr sz="44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2">
            <a:alphaModFix/>
          </a:blip>
          <a:srcRect t="7235" b="7243"/>
          <a:stretch/>
        </p:blipFill>
        <p:spPr>
          <a:xfrm>
            <a:off x="4211070" y="4711362"/>
            <a:ext cx="3774313" cy="49337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 txBox="1">
            <a:spLocks noGrp="1"/>
          </p:cNvSpPr>
          <p:nvPr>
            <p:ph type="title"/>
          </p:nvPr>
        </p:nvSpPr>
        <p:spPr>
          <a:xfrm>
            <a:off x="415600" y="546667"/>
            <a:ext cx="11360700" cy="8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sldNum" idx="12"/>
          </p:nvPr>
        </p:nvSpPr>
        <p:spPr>
          <a:xfrm>
            <a:off x="11280575" y="6201587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7" name="Google Shape;7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53775" y="6152437"/>
            <a:ext cx="3433688" cy="524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7307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ADE"/>
              </a:buClr>
              <a:buSzPts val="3700"/>
              <a:buFont typeface="Century Gothic"/>
              <a:buNone/>
              <a:defRPr sz="3700" i="0" u="none" strike="noStrike" cap="none">
                <a:solidFill>
                  <a:srgbClr val="009AD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t" anchorCtr="0">
            <a:noAutofit/>
          </a:bodyPr>
          <a:lstStyle>
            <a:lvl1pPr marL="4572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Char char="●"/>
              <a:defRPr sz="240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Char char="○"/>
              <a:defRPr sz="190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Char char="■"/>
              <a:defRPr sz="190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Char char="●"/>
              <a:defRPr sz="190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Char char="○"/>
              <a:defRPr sz="190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Char char="■"/>
              <a:defRPr sz="190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Char char="●"/>
              <a:defRPr sz="190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Char char="○"/>
              <a:defRPr sz="190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1"/>
              </a:buClr>
              <a:buSzPts val="1900"/>
              <a:buFont typeface="Century Gothic"/>
              <a:buChar char="■"/>
              <a:defRPr sz="190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rgbClr val="00376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rgbClr val="00376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rgbClr val="00376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rgbClr val="00376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rgbClr val="00376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rgbClr val="00376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rgbClr val="00376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rgbClr val="00376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i="0" u="none" strike="noStrike" cap="none">
                <a:solidFill>
                  <a:srgbClr val="00376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5">
            <a:alphaModFix/>
          </a:blip>
          <a:srcRect t="7848" b="7848"/>
          <a:stretch/>
        </p:blipFill>
        <p:spPr>
          <a:xfrm>
            <a:off x="457200" y="6459606"/>
            <a:ext cx="1954182" cy="25181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/>
          <p:nvPr/>
        </p:nvSpPr>
        <p:spPr>
          <a:xfrm>
            <a:off x="9074266" y="6431714"/>
            <a:ext cx="22821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00376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Power of Together</a:t>
            </a:r>
            <a:endParaRPr sz="1500" b="0" i="0" u="none" strike="noStrike" cap="none">
              <a:solidFill>
                <a:srgbClr val="00376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2694334" y="6431714"/>
            <a:ext cx="35268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00376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Project Annual Review</a:t>
            </a:r>
            <a:endParaRPr sz="1500" b="1" i="0" u="none" strike="noStrike" cap="none">
              <a:solidFill>
                <a:srgbClr val="00376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ogno-platfor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bestpractices.dev/en/projects/5627" TargetMode="External"/><Relationship Id="rId5" Type="http://schemas.openxmlformats.org/officeDocument/2006/relationships/hyperlink" Target="https://lists.lfenergy.org/g/SOGNO-TSC" TargetMode="External"/><Relationship Id="rId4" Type="http://schemas.openxmlformats.org/officeDocument/2006/relationships/hyperlink" Target="https://www.lfenergy.org/projects/sogno/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jpeg"/><Relationship Id="rId15" Type="http://schemas.openxmlformats.org/officeDocument/2006/relationships/image" Target="../media/image16.png"/><Relationship Id="rId10" Type="http://schemas.openxmlformats.org/officeDocument/2006/relationships/image" Target="../media/image11.jpeg"/><Relationship Id="rId4" Type="http://schemas.openxmlformats.org/officeDocument/2006/relationships/image" Target="../media/image5.jpe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hyperlink" Target="https://doi.org/10.1016/j.simpa.2026.100837" TargetMode="Externa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457200" y="3671455"/>
            <a:ext cx="11247300" cy="22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en-US"/>
              <a:t>Annual Review for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r>
              <a:rPr lang="de-DE"/>
              <a:t>SOGNO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ill Sans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1849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body" idx="2"/>
          </p:nvPr>
        </p:nvSpPr>
        <p:spPr>
          <a:xfrm>
            <a:off x="6443200" y="1446750"/>
            <a:ext cx="5333100" cy="4555200"/>
          </a:xfrm>
          <a:prstGeom prst="rect">
            <a:avLst/>
          </a:prstGeom>
        </p:spPr>
        <p:txBody>
          <a:bodyPr spcFirstLastPara="1" wrap="square" lIns="122025" tIns="122025" rIns="122025" bIns="1220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Key Links:</a:t>
            </a:r>
            <a:endParaRPr b="1"/>
          </a:p>
          <a:p>
            <a:pPr marL="0" lvl="0" indent="0">
              <a:buNone/>
            </a:pPr>
            <a:r>
              <a:rPr lang="en-US" b="1"/>
              <a:t>GitHub:</a:t>
            </a:r>
            <a:r>
              <a:rPr lang="en-US"/>
              <a:t> </a:t>
            </a:r>
            <a:r>
              <a:rPr lang="en-US">
                <a:hlinkClick r:id="rId3"/>
              </a:rPr>
              <a:t>https://github.com/sogno-platform</a:t>
            </a:r>
            <a:endParaRPr lang="en-US"/>
          </a:p>
          <a:p>
            <a:pPr marL="0" lvl="0" indent="0">
              <a:buNone/>
            </a:pPr>
            <a:r>
              <a:rPr lang="en-US" b="1"/>
              <a:t>Website:</a:t>
            </a:r>
            <a:r>
              <a:rPr lang="en-US"/>
              <a:t> </a:t>
            </a:r>
            <a:r>
              <a:rPr lang="en-US">
                <a:hlinkClick r:id="rId4"/>
              </a:rPr>
              <a:t>https://www.lfenergy.org/projects/sogno/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Artwork:</a:t>
            </a:r>
            <a:r>
              <a:rPr lang="en-US"/>
              <a:t> </a:t>
            </a:r>
            <a:r>
              <a:rPr lang="en-US" i="1"/>
              <a:t>N/A</a:t>
            </a:r>
            <a:r>
              <a:rPr lang="en-US"/>
              <a:t>	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Mailing lists:</a:t>
            </a:r>
            <a:endParaRPr lang="en-GB" b="1"/>
          </a:p>
          <a:p>
            <a:pPr marL="107950" lvl="0" indent="0">
              <a:buNone/>
            </a:pPr>
            <a:r>
              <a:rPr lang="en-GB">
                <a:hlinkClick r:id="rId5"/>
              </a:rPr>
              <a:t>https://lists.lfenergy.org/g/SOGNO-TSC</a:t>
            </a:r>
            <a:r>
              <a:rPr lang="en-GB"/>
              <a:t>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err="1"/>
              <a:t>OpenSSF</a:t>
            </a:r>
            <a:r>
              <a:rPr lang="en-US" b="1"/>
              <a:t> Best Practice Badge URL: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>
                <a:hlinkClick r:id="rId6"/>
              </a:rPr>
              <a:t>https://www.bestpractices.dev/en/projects/5627</a:t>
            </a:r>
            <a:endParaRPr lang="en-GB"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1"/>
          </a:p>
        </p:txBody>
      </p:sp>
      <p:sp>
        <p:nvSpPr>
          <p:cNvPr id="87" name="Google Shape;87;p17"/>
          <p:cNvSpPr txBox="1">
            <a:spLocks noGrp="1"/>
          </p:cNvSpPr>
          <p:nvPr>
            <p:ph type="body" idx="1"/>
          </p:nvPr>
        </p:nvSpPr>
        <p:spPr>
          <a:xfrm>
            <a:off x="415600" y="1216908"/>
            <a:ext cx="5333100" cy="5142641"/>
          </a:xfrm>
          <a:prstGeom prst="rect">
            <a:avLst/>
          </a:prstGeom>
        </p:spPr>
        <p:txBody>
          <a:bodyPr spcFirstLastPara="1" wrap="square" lIns="122025" tIns="122025" rIns="122025" bIns="1220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Brief Description:</a:t>
            </a:r>
            <a:endParaRPr b="1"/>
          </a:p>
          <a:p>
            <a:pPr marL="0" lvl="0" indent="0">
              <a:buNone/>
            </a:pPr>
            <a:r>
              <a:rPr lang="en-GB" i="1"/>
              <a:t>SOGNO </a:t>
            </a:r>
            <a:r>
              <a:rPr lang="en-US" i="1"/>
              <a:t>creates plug-and-play, cloud-native, micro-services to implement next generation of data-driven monitoring and control systems for grid automation. It simplify the life of utilities by enabling them to optimize their network operations through open source to deliver cost-effectively, and seamless, secure power supply for their customers. SOGNO introduces the idea of grid automation as a modular system in which components can be added through time. This is in opposition to classical monolithic solutions.</a:t>
            </a:r>
            <a:endParaRPr lang="en-GB" i="1"/>
          </a:p>
          <a:p>
            <a:pPr marL="0" indent="0">
              <a:buNone/>
            </a:pPr>
            <a:endParaRPr lang="en-US"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TSC Chairperson: 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i="1"/>
              <a:t>Antonello Monti (amonti@eonerc.rwth-aachen.de)</a:t>
            </a:r>
            <a:endParaRPr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TSC Members and Affiliations:</a:t>
            </a:r>
            <a:endParaRPr b="1"/>
          </a:p>
          <a:p>
            <a:pPr marL="0" indent="0">
              <a:buNone/>
            </a:pPr>
            <a:r>
              <a:rPr lang="de-DE" i="1"/>
              <a:t>Juan Adolfo Galeano, Florian Oppermann, Sanket Gaikwad, </a:t>
            </a:r>
            <a:r>
              <a:rPr lang="de-DE" err="1"/>
              <a:t>Sreejith</a:t>
            </a:r>
            <a:r>
              <a:rPr lang="de-DE"/>
              <a:t> </a:t>
            </a:r>
            <a:r>
              <a:rPr lang="de-DE" err="1"/>
              <a:t>Pananchickal</a:t>
            </a:r>
            <a:r>
              <a:rPr lang="de-DE"/>
              <a:t>, Leonardo Carreras</a:t>
            </a:r>
            <a:r>
              <a:rPr lang="de-DE" i="1"/>
              <a:t> (RWTH Aachen University)</a:t>
            </a:r>
          </a:p>
          <a:p>
            <a:pPr marL="0" indent="0">
              <a:buNone/>
            </a:pPr>
            <a:r>
              <a:rPr lang="de-DE" i="1"/>
              <a:t>Varshitha Ramanna, Pranav Kulkarni, Beyza </a:t>
            </a:r>
            <a:r>
              <a:rPr lang="de-DE" i="1" err="1"/>
              <a:t>Cizmeci</a:t>
            </a:r>
            <a:r>
              <a:rPr lang="de-DE" i="1"/>
              <a:t>, </a:t>
            </a:r>
            <a:r>
              <a:rPr lang="de-DE"/>
              <a:t>Varshitha Chamanahalli</a:t>
            </a:r>
            <a:r>
              <a:rPr lang="de-DE" i="1"/>
              <a:t> (Fraunhofer FIT)</a:t>
            </a:r>
            <a:endParaRPr lang="de-DE"/>
          </a:p>
          <a:p>
            <a:pPr marL="0" indent="0">
              <a:buNone/>
            </a:pPr>
            <a:r>
              <a:rPr lang="de-DE" i="1"/>
              <a:t>Markus Mirz (PSI), </a:t>
            </a:r>
            <a:r>
              <a:rPr lang="de-DE"/>
              <a:t>Roberto Raffo (Google</a:t>
            </a:r>
            <a:r>
              <a:rPr lang="de-DE" i="1"/>
              <a:t>), </a:t>
            </a:r>
            <a:r>
              <a:rPr lang="de-DE"/>
              <a:t>Alberto Patrizi (ARETI)</a:t>
            </a:r>
          </a:p>
          <a:p>
            <a:pPr marL="0" indent="0">
              <a:buNone/>
            </a:pPr>
            <a:r>
              <a:rPr lang="de-DE"/>
              <a:t>Holger Blasum (</a:t>
            </a:r>
            <a:r>
              <a:rPr lang="de-DE" err="1"/>
              <a:t>UrStrom</a:t>
            </a:r>
            <a:r>
              <a:rPr lang="de-DE"/>
              <a:t> Bürgerenergie eG)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/>
          </a:p>
        </p:txBody>
      </p:sp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rgbClr val="168FDF"/>
              </a:buClr>
              <a:buSzPts val="3600"/>
              <a:buFont typeface="Gill Sans"/>
            </a:pPr>
            <a:r>
              <a:rPr lang="en-US" b="1"/>
              <a:t>SOGNO </a:t>
            </a:r>
            <a:endParaRPr lang="de-DE" sz="2000" b="1">
              <a:solidFill>
                <a:srgbClr val="FF0000"/>
              </a:solidFill>
            </a:endParaRPr>
          </a:p>
        </p:txBody>
      </p:sp>
      <p:sp>
        <p:nvSpPr>
          <p:cNvPr id="89" name="Google Shape;89;p17"/>
          <p:cNvSpPr txBox="1">
            <a:spLocks noGrp="1"/>
          </p:cNvSpPr>
          <p:nvPr>
            <p:ph type="sldNum" idx="12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</p:spPr>
        <p:txBody>
          <a:bodyPr spcFirstLastPara="1" wrap="square" lIns="122025" tIns="122025" rIns="122025" bIns="1220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7"/>
          <p:cNvSpPr txBox="1">
            <a:spLocks noGrp="1"/>
          </p:cNvSpPr>
          <p:nvPr>
            <p:ph type="sldNum" idx="3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</p:spPr>
        <p:txBody>
          <a:bodyPr spcFirstLastPara="1" wrap="square" lIns="122025" tIns="122025" rIns="122025" bIns="1220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1632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F0F5681-5474-65AA-F2B6-1BE2B906E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119" y="2512039"/>
            <a:ext cx="2446116" cy="2446116"/>
          </a:xfrm>
          <a:prstGeom prst="rect">
            <a:avLst/>
          </a:prstGeom>
        </p:spPr>
      </p:pic>
      <p:sp>
        <p:nvSpPr>
          <p:cNvPr id="143" name="Google Shape;143;p23"/>
          <p:cNvSpPr txBox="1">
            <a:spLocks noGrp="1"/>
          </p:cNvSpPr>
          <p:nvPr>
            <p:ph type="title"/>
          </p:nvPr>
        </p:nvSpPr>
        <p:spPr>
          <a:xfrm>
            <a:off x="299183" y="106534"/>
            <a:ext cx="11360700" cy="763500"/>
          </a:xfrm>
          <a:prstGeom prst="rect">
            <a:avLst/>
          </a:prstGeom>
        </p:spPr>
        <p:txBody>
          <a:bodyPr spcFirstLastPara="1" wrap="square" lIns="122025" tIns="122025" rIns="122025" bIns="122025" anchor="t" anchorCtr="0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b="1">
                <a:solidFill>
                  <a:srgbClr val="00B0F0"/>
                </a:solidFill>
              </a:rPr>
              <a:t>Organizations/projects contributing/using SOGNO</a:t>
            </a:r>
            <a:endParaRPr lang="de-DE" sz="2200" b="1">
              <a:solidFill>
                <a:srgbClr val="00B0F0"/>
              </a:solidFill>
            </a:endParaRPr>
          </a:p>
          <a:p>
            <a:br>
              <a:rPr lang="en-US"/>
            </a:br>
            <a:endParaRPr lang="de-DE" sz="2200" b="1">
              <a:solidFill>
                <a:srgbClr val="FF0000"/>
              </a:solidFill>
            </a:endParaRPr>
          </a:p>
        </p:txBody>
      </p:sp>
      <p:sp>
        <p:nvSpPr>
          <p:cNvPr id="145" name="Google Shape;145;p23"/>
          <p:cNvSpPr txBox="1">
            <a:spLocks noGrp="1"/>
          </p:cNvSpPr>
          <p:nvPr>
            <p:ph type="sldNum" idx="12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</p:spPr>
        <p:txBody>
          <a:bodyPr spcFirstLastPara="1" wrap="square" lIns="122025" tIns="122025" rIns="122025" bIns="1220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sldNum" idx="2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</p:spPr>
        <p:txBody>
          <a:bodyPr spcFirstLastPara="1" wrap="square" lIns="122025" tIns="122025" rIns="122025" bIns="1220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6" t="32377" r="7935" b="30404"/>
          <a:stretch/>
        </p:blipFill>
        <p:spPr>
          <a:xfrm>
            <a:off x="409870" y="1521205"/>
            <a:ext cx="2344439" cy="688109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105" y="2896838"/>
            <a:ext cx="2517050" cy="649659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58" b="27759"/>
          <a:stretch/>
        </p:blipFill>
        <p:spPr>
          <a:xfrm>
            <a:off x="3166876" y="1313923"/>
            <a:ext cx="1735699" cy="701269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8476" y="3035871"/>
            <a:ext cx="1523810" cy="1009524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3610" y="5361567"/>
            <a:ext cx="2413398" cy="754187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8383" y="5230710"/>
            <a:ext cx="2173685" cy="893909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101" y="2085158"/>
            <a:ext cx="1725499" cy="616249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6911" y="3253795"/>
            <a:ext cx="1913975" cy="6251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11D0416-9005-3C4E-7AEC-AF1F3003563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7873" y="5439301"/>
            <a:ext cx="2551955" cy="6015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256B23-4E4B-464D-3EA9-9B6E5531476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845" y="4369394"/>
            <a:ext cx="3206969" cy="624052"/>
          </a:xfrm>
          <a:prstGeom prst="rect">
            <a:avLst/>
          </a:prstGeom>
        </p:spPr>
      </p:pic>
      <p:pic>
        <p:nvPicPr>
          <p:cNvPr id="7" name="Picture 6" descr="A logo with black and blue text&#10;&#10;AI-generated content may be incorrect.">
            <a:extLst>
              <a:ext uri="{FF2B5EF4-FFF2-40B4-BE49-F238E27FC236}">
                <a16:creationId xmlns:a16="http://schemas.microsoft.com/office/drawing/2014/main" id="{E83AD9A0-D2B4-65F2-745C-3B5FE9CE50B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00507" y="717097"/>
            <a:ext cx="2247900" cy="1352550"/>
          </a:xfrm>
          <a:prstGeom prst="rect">
            <a:avLst/>
          </a:prstGeom>
        </p:spPr>
      </p:pic>
      <p:pic>
        <p:nvPicPr>
          <p:cNvPr id="16" name="Picture 15" descr="A blue text on a white background&#10;&#10;AI-generated content may be incorrect.">
            <a:extLst>
              <a:ext uri="{FF2B5EF4-FFF2-40B4-BE49-F238E27FC236}">
                <a16:creationId xmlns:a16="http://schemas.microsoft.com/office/drawing/2014/main" id="{8A855EDC-65B6-FB42-9285-02C8E826325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16665" y="4348842"/>
            <a:ext cx="3645354" cy="653142"/>
          </a:xfrm>
          <a:prstGeom prst="rect">
            <a:avLst/>
          </a:prstGeom>
        </p:spPr>
      </p:pic>
      <p:pic>
        <p:nvPicPr>
          <p:cNvPr id="15" name="Picture 14" descr="A logo with text and flowers&#10;&#10;AI-generated content may be incorrect.">
            <a:extLst>
              <a:ext uri="{FF2B5EF4-FFF2-40B4-BE49-F238E27FC236}">
                <a16:creationId xmlns:a16="http://schemas.microsoft.com/office/drawing/2014/main" id="{D19DB14A-010F-AD79-71DD-74127DC1F2F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8487" y="4053039"/>
            <a:ext cx="1499659" cy="892175"/>
          </a:xfrm>
          <a:prstGeom prst="rect">
            <a:avLst/>
          </a:prstGeom>
        </p:spPr>
      </p:pic>
      <p:pic>
        <p:nvPicPr>
          <p:cNvPr id="2" name="Picture 1" descr="A logo of a company&#10;&#10;AI-generated content may be incorrect.">
            <a:extLst>
              <a:ext uri="{FF2B5EF4-FFF2-40B4-BE49-F238E27FC236}">
                <a16:creationId xmlns:a16="http://schemas.microsoft.com/office/drawing/2014/main" id="{A53ED9BA-412C-92D3-2F2C-153302F0AE0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74668" y="730460"/>
            <a:ext cx="2545871" cy="131391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867A769-B3A2-BEC7-45B5-35D013C92FE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29919" y="1867191"/>
            <a:ext cx="2517050" cy="1058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907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1158E-F868-E162-2B99-EE101616C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364" y="330072"/>
            <a:ext cx="3524102" cy="1031152"/>
          </a:xfrm>
        </p:spPr>
        <p:txBody>
          <a:bodyPr/>
          <a:lstStyle/>
          <a:p>
            <a:r>
              <a:rPr lang="en-US" b="1"/>
              <a:t>Contributions:</a:t>
            </a:r>
            <a:endParaRPr lang="de-DE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F3F53-43C2-1C69-0976-2BE5AB629C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9161BF-A476-B876-428A-584A77BE945A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886042-E3B1-6CB1-EBDB-0092A66D0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439" y="851040"/>
            <a:ext cx="5335447" cy="46331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821CEE-E93A-5B0B-FC7A-0B31883F4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65" y="1609725"/>
            <a:ext cx="6178550" cy="400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68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1158E-F868-E162-2B99-EE101616C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364" y="330072"/>
            <a:ext cx="3524102" cy="1031152"/>
          </a:xfrm>
        </p:spPr>
        <p:txBody>
          <a:bodyPr/>
          <a:lstStyle/>
          <a:p>
            <a:r>
              <a:rPr lang="en-US" b="1"/>
              <a:t>Contributions:</a:t>
            </a:r>
            <a:endParaRPr lang="de-DE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F3F53-43C2-1C69-0976-2BE5AB629C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9161BF-A476-B876-428A-584A77BE945A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F322984-C469-12B0-0D35-B297F8690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162" y="1213719"/>
            <a:ext cx="5531544" cy="4879353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47AA924-F464-B87A-EC23-3415E2A0299D}"/>
              </a:ext>
            </a:extLst>
          </p:cNvPr>
          <p:cNvCxnSpPr>
            <a:cxnSpLocks/>
          </p:cNvCxnSpPr>
          <p:nvPr/>
        </p:nvCxnSpPr>
        <p:spPr>
          <a:xfrm>
            <a:off x="6096000" y="1143000"/>
            <a:ext cx="0" cy="4782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FDB52327-3D71-0107-C5EA-CE776BC45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393" y="1151494"/>
            <a:ext cx="5634153" cy="477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196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6E2127-D8A3-8465-1274-83F852686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781812"/>
            <a:ext cx="11605089" cy="4310020"/>
          </a:xfrm>
        </p:spPr>
        <p:txBody>
          <a:bodyPr/>
          <a:lstStyle/>
          <a:p>
            <a:pPr marL="342900" indent="-342900"/>
            <a:r>
              <a:rPr lang="de-DE" sz="1900" err="1">
                <a:solidFill>
                  <a:schemeClr val="tx1"/>
                </a:solidFill>
                <a:ea typeface="Calibri"/>
              </a:rPr>
              <a:t>Is</a:t>
            </a:r>
            <a:r>
              <a:rPr lang="de-DE" sz="1900">
                <a:solidFill>
                  <a:schemeClr val="tx1"/>
                </a:solidFill>
                <a:ea typeface="Calibri"/>
              </a:rPr>
              <a:t> </a:t>
            </a:r>
            <a:r>
              <a:rPr lang="de-DE" sz="1900" err="1">
                <a:solidFill>
                  <a:schemeClr val="tx1"/>
                </a:solidFill>
                <a:ea typeface="Calibri"/>
              </a:rPr>
              <a:t>being</a:t>
            </a:r>
            <a:r>
              <a:rPr lang="de-DE" sz="1900">
                <a:solidFill>
                  <a:schemeClr val="tx1"/>
                </a:solidFill>
                <a:ea typeface="Calibri"/>
              </a:rPr>
              <a:t> </a:t>
            </a:r>
            <a:r>
              <a:rPr lang="de-DE" sz="1900" err="1">
                <a:solidFill>
                  <a:schemeClr val="tx1"/>
                </a:solidFill>
                <a:ea typeface="Calibri"/>
              </a:rPr>
              <a:t>used</a:t>
            </a:r>
            <a:r>
              <a:rPr lang="de-DE" sz="1900">
                <a:solidFill>
                  <a:schemeClr val="tx1"/>
                </a:solidFill>
                <a:ea typeface="Calibri"/>
              </a:rPr>
              <a:t> </a:t>
            </a:r>
            <a:r>
              <a:rPr lang="de-DE" sz="1900" err="1">
                <a:solidFill>
                  <a:schemeClr val="tx1"/>
                </a:solidFill>
                <a:ea typeface="Calibri"/>
              </a:rPr>
              <a:t>as</a:t>
            </a:r>
            <a:r>
              <a:rPr lang="de-DE" sz="1900">
                <a:solidFill>
                  <a:schemeClr val="tx1"/>
                </a:solidFill>
                <a:ea typeface="Calibri"/>
              </a:rPr>
              <a:t> real-time </a:t>
            </a:r>
            <a:r>
              <a:rPr lang="de-DE" sz="1900" err="1">
                <a:solidFill>
                  <a:schemeClr val="tx1"/>
                </a:solidFill>
                <a:ea typeface="Calibri"/>
              </a:rPr>
              <a:t>traffic</a:t>
            </a:r>
            <a:r>
              <a:rPr lang="de-DE" sz="1900">
                <a:solidFill>
                  <a:schemeClr val="tx1"/>
                </a:solidFill>
                <a:ea typeface="Calibri"/>
              </a:rPr>
              <a:t> </a:t>
            </a:r>
            <a:r>
              <a:rPr lang="de-DE" sz="1900" err="1">
                <a:solidFill>
                  <a:schemeClr val="tx1"/>
                </a:solidFill>
                <a:ea typeface="Calibri"/>
              </a:rPr>
              <a:t>endpoint</a:t>
            </a:r>
            <a:r>
              <a:rPr lang="de-DE" sz="1900">
                <a:solidFill>
                  <a:schemeClr val="tx1"/>
                </a:solidFill>
                <a:ea typeface="Calibri"/>
              </a:rPr>
              <a:t> </a:t>
            </a:r>
            <a:r>
              <a:rPr lang="de-DE" sz="1900" err="1">
                <a:solidFill>
                  <a:schemeClr val="tx1"/>
                </a:solidFill>
                <a:ea typeface="Calibri"/>
              </a:rPr>
              <a:t>for</a:t>
            </a:r>
            <a:r>
              <a:rPr lang="de-DE" sz="1900">
                <a:solidFill>
                  <a:schemeClr val="tx1"/>
                </a:solidFill>
                <a:ea typeface="Calibri"/>
              </a:rPr>
              <a:t> </a:t>
            </a:r>
            <a:r>
              <a:rPr lang="de-DE" sz="1900" err="1">
                <a:solidFill>
                  <a:schemeClr val="tx1"/>
                </a:solidFill>
                <a:ea typeface="Calibri"/>
              </a:rPr>
              <a:t>evrich</a:t>
            </a:r>
            <a:r>
              <a:rPr lang="de-DE" sz="1900">
                <a:solidFill>
                  <a:schemeClr val="tx1"/>
                </a:solidFill>
                <a:ea typeface="Calibri"/>
              </a:rPr>
              <a:t>. (</a:t>
            </a:r>
            <a:r>
              <a:rPr lang="de-DE" sz="1900" err="1">
                <a:solidFill>
                  <a:schemeClr val="tx1"/>
                </a:solidFill>
                <a:ea typeface="Calibri"/>
              </a:rPr>
              <a:t>Advanced</a:t>
            </a:r>
            <a:r>
              <a:rPr lang="de-DE" sz="1900">
                <a:solidFill>
                  <a:schemeClr val="tx1"/>
                </a:solidFill>
                <a:ea typeface="Calibri"/>
              </a:rPr>
              <a:t> </a:t>
            </a:r>
            <a:r>
              <a:rPr lang="de-DE" sz="1900" err="1">
                <a:solidFill>
                  <a:schemeClr val="tx1"/>
                </a:solidFill>
                <a:ea typeface="Calibri"/>
              </a:rPr>
              <a:t>estimation</a:t>
            </a:r>
            <a:r>
              <a:rPr lang="de-DE" sz="1900">
                <a:solidFill>
                  <a:schemeClr val="tx1"/>
                </a:solidFill>
                <a:ea typeface="Calibri"/>
              </a:rPr>
              <a:t> </a:t>
            </a:r>
            <a:r>
              <a:rPr lang="de-DE" sz="1900" err="1">
                <a:solidFill>
                  <a:schemeClr val="tx1"/>
                </a:solidFill>
                <a:ea typeface="Calibri"/>
              </a:rPr>
              <a:t>of</a:t>
            </a:r>
            <a:r>
              <a:rPr lang="de-DE" sz="1900">
                <a:solidFill>
                  <a:schemeClr val="tx1"/>
                </a:solidFill>
                <a:ea typeface="Calibri"/>
              </a:rPr>
              <a:t> </a:t>
            </a:r>
            <a:r>
              <a:rPr lang="de-DE" sz="1900" err="1">
                <a:solidFill>
                  <a:schemeClr val="tx1"/>
                </a:solidFill>
                <a:ea typeface="Calibri"/>
              </a:rPr>
              <a:t>arrival</a:t>
            </a:r>
            <a:r>
              <a:rPr lang="de-DE" sz="1900">
                <a:solidFill>
                  <a:schemeClr val="tx1"/>
                </a:solidFill>
                <a:ea typeface="Calibri"/>
              </a:rPr>
              <a:t> SOC and time </a:t>
            </a:r>
            <a:r>
              <a:rPr lang="de-DE" sz="1900" err="1">
                <a:solidFill>
                  <a:schemeClr val="tx1"/>
                </a:solidFill>
                <a:ea typeface="Calibri"/>
              </a:rPr>
              <a:t>calculations</a:t>
            </a:r>
            <a:r>
              <a:rPr lang="de-DE" sz="1900">
                <a:solidFill>
                  <a:schemeClr val="tx1"/>
                </a:solidFill>
                <a:ea typeface="Calibri"/>
              </a:rPr>
              <a:t> </a:t>
            </a:r>
            <a:r>
              <a:rPr lang="de-DE" sz="1900" err="1">
                <a:solidFill>
                  <a:schemeClr val="tx1"/>
                </a:solidFill>
                <a:ea typeface="Calibri"/>
              </a:rPr>
              <a:t>to</a:t>
            </a:r>
            <a:r>
              <a:rPr lang="de-DE" sz="1900">
                <a:solidFill>
                  <a:schemeClr val="tx1"/>
                </a:solidFill>
                <a:ea typeface="Calibri"/>
              </a:rPr>
              <a:t> </a:t>
            </a:r>
            <a:r>
              <a:rPr lang="de-DE" sz="1900" err="1">
                <a:solidFill>
                  <a:schemeClr val="tx1"/>
                </a:solidFill>
                <a:ea typeface="Calibri"/>
              </a:rPr>
              <a:t>charging</a:t>
            </a:r>
            <a:r>
              <a:rPr lang="de-DE" sz="1900">
                <a:solidFill>
                  <a:schemeClr val="tx1"/>
                </a:solidFill>
                <a:ea typeface="Calibri"/>
              </a:rPr>
              <a:t> </a:t>
            </a:r>
            <a:r>
              <a:rPr lang="de-DE" sz="1900" err="1">
                <a:solidFill>
                  <a:schemeClr val="tx1"/>
                </a:solidFill>
                <a:ea typeface="Calibri"/>
              </a:rPr>
              <a:t>points</a:t>
            </a:r>
            <a:r>
              <a:rPr lang="de-DE" sz="1900">
                <a:solidFill>
                  <a:schemeClr val="tx1"/>
                </a:solidFill>
                <a:ea typeface="Calibri"/>
              </a:rPr>
              <a:t>)</a:t>
            </a:r>
          </a:p>
          <a:p>
            <a:pPr marL="342900" indent="-342900"/>
            <a:r>
              <a:rPr lang="de-DE" sz="1900">
                <a:solidFill>
                  <a:schemeClr val="tx1"/>
                </a:solidFill>
                <a:ea typeface="Calibri"/>
              </a:rPr>
              <a:t>Software </a:t>
            </a:r>
            <a:r>
              <a:rPr lang="de-DE" sz="1900" err="1">
                <a:solidFill>
                  <a:schemeClr val="tx1"/>
                </a:solidFill>
                <a:ea typeface="Calibri"/>
              </a:rPr>
              <a:t>paper</a:t>
            </a:r>
            <a:r>
              <a:rPr lang="de-DE" sz="1900">
                <a:solidFill>
                  <a:schemeClr val="tx1"/>
                </a:solidFill>
                <a:ea typeface="Calibri"/>
              </a:rPr>
              <a:t> </a:t>
            </a:r>
            <a:r>
              <a:rPr lang="de-DE" sz="1900" err="1">
                <a:solidFill>
                  <a:schemeClr val="tx1"/>
                </a:solidFill>
                <a:ea typeface="Calibri"/>
              </a:rPr>
              <a:t>published</a:t>
            </a:r>
            <a:r>
              <a:rPr lang="de-DE" sz="1900">
                <a:solidFill>
                  <a:schemeClr val="tx1"/>
                </a:solidFill>
                <a:ea typeface="Calibri"/>
              </a:rPr>
              <a:t> in Elsevier Software Impacts </a:t>
            </a:r>
            <a:r>
              <a:rPr lang="de-DE" sz="1900" err="1">
                <a:solidFill>
                  <a:schemeClr val="tx1"/>
                </a:solidFill>
                <a:ea typeface="Calibri"/>
              </a:rPr>
              <a:t>journal</a:t>
            </a:r>
            <a:endParaRPr lang="de-DE" sz="1900">
              <a:solidFill>
                <a:schemeClr val="tx1"/>
              </a:solidFill>
              <a:ea typeface="Calibri"/>
            </a:endParaRPr>
          </a:p>
          <a:p>
            <a:pPr marL="342900" indent="-342900"/>
            <a:r>
              <a:rPr lang="de-DE" sz="1900" err="1">
                <a:solidFill>
                  <a:schemeClr val="tx1"/>
                </a:solidFill>
                <a:ea typeface="Calibri"/>
              </a:rPr>
              <a:t>Now</a:t>
            </a:r>
            <a:r>
              <a:rPr lang="de-DE" sz="1900">
                <a:solidFill>
                  <a:schemeClr val="tx1"/>
                </a:solidFill>
                <a:ea typeface="Calibri"/>
              </a:rPr>
              <a:t> </a:t>
            </a:r>
            <a:r>
              <a:rPr lang="de-DE" sz="1900" err="1">
                <a:solidFill>
                  <a:schemeClr val="tx1"/>
                </a:solidFill>
                <a:ea typeface="Calibri"/>
              </a:rPr>
              <a:t>available</a:t>
            </a:r>
            <a:r>
              <a:rPr lang="de-DE" sz="1900">
                <a:solidFill>
                  <a:schemeClr val="tx1"/>
                </a:solidFill>
                <a:ea typeface="Calibri"/>
              </a:rPr>
              <a:t> in SOGNO </a:t>
            </a:r>
            <a:r>
              <a:rPr lang="de-DE" sz="1900" err="1">
                <a:solidFill>
                  <a:schemeClr val="tx1"/>
                </a:solidFill>
                <a:ea typeface="Calibri"/>
              </a:rPr>
              <a:t>repo</a:t>
            </a:r>
            <a:r>
              <a:rPr lang="de-DE" sz="1900">
                <a:solidFill>
                  <a:schemeClr val="tx1"/>
                </a:solidFill>
                <a:ea typeface="Calibri"/>
              </a:rPr>
              <a:t>.</a:t>
            </a:r>
            <a:endParaRPr lang="de-DE" sz="1900" b="1">
              <a:solidFill>
                <a:schemeClr val="tx1"/>
              </a:solidFill>
              <a:ea typeface="Calibri"/>
            </a:endParaRPr>
          </a:p>
          <a:p>
            <a:pPr marL="342900" indent="-342900"/>
            <a:r>
              <a:rPr lang="de-DE" sz="1900">
                <a:solidFill>
                  <a:schemeClr val="tx1"/>
                </a:solidFill>
                <a:ea typeface="Calibri"/>
              </a:rPr>
              <a:t>DOI:</a:t>
            </a:r>
            <a:r>
              <a:rPr lang="de-DE" sz="1900" b="1">
                <a:solidFill>
                  <a:srgbClr val="FF0000"/>
                </a:solidFill>
                <a:ea typeface="Calibri"/>
              </a:rPr>
              <a:t> </a:t>
            </a:r>
            <a:r>
              <a:rPr lang="de-DE" sz="1900">
                <a:solidFill>
                  <a:srgbClr val="FF0000"/>
                </a:solidFill>
                <a:ea typeface="Calibri"/>
                <a:hlinkClick r:id="rId2"/>
              </a:rPr>
              <a:t>https://doi.org/10.1016/j.simpa.2026.100837</a:t>
            </a:r>
            <a:endParaRPr lang="de-DE" sz="1900" b="1">
              <a:solidFill>
                <a:srgbClr val="FF0000"/>
              </a:solidFill>
              <a:ea typeface="Calibri"/>
            </a:endParaRPr>
          </a:p>
          <a:p>
            <a:pPr lvl="1"/>
            <a:endParaRPr lang="de-DE" sz="1400" kern="0">
              <a:solidFill>
                <a:srgbClr val="FF0000"/>
              </a:solidFill>
              <a:effectLst/>
              <a:ea typeface="Calibri" panose="020F0502020204030204" pitchFamily="34" charset="0"/>
            </a:endParaRPr>
          </a:p>
          <a:p>
            <a:pPr marL="342900" indent="-342900"/>
            <a:endParaRPr lang="de-DE" sz="1900">
              <a:solidFill>
                <a:srgbClr val="FF0000"/>
              </a:solidFill>
              <a:effectLst/>
              <a:ea typeface="Calibri" panose="020F0502020204030204" pitchFamily="34" charset="0"/>
            </a:endParaRPr>
          </a:p>
          <a:p>
            <a:pPr marL="342900" indent="-342900"/>
            <a:endParaRPr lang="de-DE" sz="2000" b="1">
              <a:solidFill>
                <a:srgbClr val="FF0000"/>
              </a:solidFill>
              <a:ea typeface="Calibri" panose="020F0502020204030204" pitchFamily="34" charset="0"/>
            </a:endParaRPr>
          </a:p>
          <a:p>
            <a:pPr marL="76200" indent="0">
              <a:buNone/>
            </a:pPr>
            <a:endParaRPr lang="de-DE" sz="1800" b="1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76200" indent="0">
              <a:buNone/>
            </a:pPr>
            <a:endParaRPr lang="en-US" sz="1800">
              <a:latin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9CD74-D7C6-A7B7-DE78-DFBCA82530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342BA7-C774-5534-D237-6EB1C7D01A9F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B7CF430-1FCE-3FE8-2969-EED6A6D99773}"/>
              </a:ext>
            </a:extLst>
          </p:cNvPr>
          <p:cNvSpPr txBox="1">
            <a:spLocks/>
          </p:cNvSpPr>
          <p:nvPr/>
        </p:nvSpPr>
        <p:spPr>
          <a:xfrm>
            <a:off x="415600" y="282975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ADE"/>
              </a:buClr>
              <a:buSzPts val="3700"/>
              <a:buFont typeface="Century Gothic"/>
              <a:buNone/>
              <a:defRPr sz="3700" b="0" i="0" u="none" strike="noStrike" cap="none">
                <a:solidFill>
                  <a:srgbClr val="009AD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de-DE"/>
              <a:t>Key Achievements in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past</a:t>
            </a:r>
            <a:r>
              <a:rPr lang="de-DE"/>
              <a:t> </a:t>
            </a:r>
            <a:r>
              <a:rPr lang="de-DE" err="1"/>
              <a:t>year</a:t>
            </a:r>
            <a:endParaRPr lang="de-DE"/>
          </a:p>
        </p:txBody>
      </p:sp>
      <p:sp>
        <p:nvSpPr>
          <p:cNvPr id="7" name="Google Shape;161;p6">
            <a:extLst>
              <a:ext uri="{FF2B5EF4-FFF2-40B4-BE49-F238E27FC236}">
                <a16:creationId xmlns:a16="http://schemas.microsoft.com/office/drawing/2014/main" id="{C5C4C706-7CCE-15FD-99FE-702CF0A3D0CC}"/>
              </a:ext>
            </a:extLst>
          </p:cNvPr>
          <p:cNvSpPr txBox="1">
            <a:spLocks/>
          </p:cNvSpPr>
          <p:nvPr/>
        </p:nvSpPr>
        <p:spPr>
          <a:xfrm>
            <a:off x="415633" y="121001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ADE"/>
              </a:buClr>
              <a:buSzPts val="3700"/>
              <a:buFont typeface="Century Gothic"/>
              <a:buNone/>
              <a:defRPr sz="3700" b="0" i="0" u="none" strike="noStrike" cap="none">
                <a:solidFill>
                  <a:srgbClr val="009AD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de-DE" sz="2400" b="1" err="1"/>
              <a:t>Routevolt</a:t>
            </a:r>
            <a:r>
              <a:rPr lang="de-DE" sz="2400" b="1"/>
              <a:t>: New Service</a:t>
            </a:r>
          </a:p>
        </p:txBody>
      </p:sp>
      <p:pic>
        <p:nvPicPr>
          <p:cNvPr id="2" name="Picture 1" descr="Fig. 1">
            <a:extLst>
              <a:ext uri="{FF2B5EF4-FFF2-40B4-BE49-F238E27FC236}">
                <a16:creationId xmlns:a16="http://schemas.microsoft.com/office/drawing/2014/main" id="{FCB85C6F-C1BA-640C-3F74-9F15DB1D7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3144420"/>
            <a:ext cx="5009406" cy="316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428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EE7CC-2EA5-0677-A06B-EE267DB25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E6ED0D-B987-E325-8532-57B0F4913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781812"/>
            <a:ext cx="6221609" cy="4310020"/>
          </a:xfrm>
        </p:spPr>
        <p:txBody>
          <a:bodyPr/>
          <a:lstStyle/>
          <a:p>
            <a:pPr marL="342900" indent="-342900"/>
            <a:r>
              <a:rPr lang="de-DE" sz="1900" b="1">
                <a:solidFill>
                  <a:schemeClr val="tx1"/>
                </a:solidFill>
                <a:ea typeface="Calibri"/>
              </a:rPr>
              <a:t>FLOW: Rome </a:t>
            </a:r>
            <a:r>
              <a:rPr lang="de-DE" sz="1900" b="1" err="1">
                <a:solidFill>
                  <a:schemeClr val="tx1"/>
                </a:solidFill>
                <a:ea typeface="Calibri"/>
              </a:rPr>
              <a:t>demo</a:t>
            </a:r>
            <a:endParaRPr lang="en-US" b="1">
              <a:solidFill>
                <a:schemeClr val="tx1"/>
              </a:solidFill>
            </a:endParaRPr>
          </a:p>
          <a:p>
            <a:pPr lvl="1"/>
            <a:r>
              <a:rPr lang="de-DE" sz="1400">
                <a:solidFill>
                  <a:schemeClr val="tx1"/>
                </a:solidFill>
                <a:ea typeface="Calibri"/>
              </a:rPr>
              <a:t>Management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of</a:t>
            </a:r>
            <a:r>
              <a:rPr lang="de-DE" sz="1400">
                <a:solidFill>
                  <a:schemeClr val="tx1"/>
                </a:solidFill>
                <a:ea typeface="Calibri"/>
              </a:rPr>
              <a:t> 3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charging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stations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with</a:t>
            </a:r>
            <a:r>
              <a:rPr lang="de-DE" sz="1400">
                <a:solidFill>
                  <a:schemeClr val="tx1"/>
                </a:solidFill>
                <a:ea typeface="Calibri"/>
              </a:rPr>
              <a:t> total 7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charging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ports</a:t>
            </a:r>
            <a:r>
              <a:rPr lang="de-DE" sz="1400">
                <a:solidFill>
                  <a:schemeClr val="tx1"/>
                </a:solidFill>
                <a:ea typeface="Calibri"/>
              </a:rPr>
              <a:t>,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helping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assess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the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impact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of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optimized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station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selection</a:t>
            </a:r>
            <a:r>
              <a:rPr lang="de-DE" sz="1400">
                <a:solidFill>
                  <a:schemeClr val="tx1"/>
                </a:solidFill>
                <a:ea typeface="Calibri"/>
              </a:rPr>
              <a:t> on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reducing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charging-related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loads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by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comparing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baseline</a:t>
            </a:r>
            <a:r>
              <a:rPr lang="de-DE" sz="1400">
                <a:solidFill>
                  <a:schemeClr val="tx1"/>
                </a:solidFill>
                <a:ea typeface="Calibri"/>
              </a:rPr>
              <a:t> and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integrated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consumption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levels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with</a:t>
            </a:r>
            <a:r>
              <a:rPr lang="de-DE" sz="1400">
                <a:solidFill>
                  <a:schemeClr val="tx1"/>
                </a:solidFill>
                <a:ea typeface="Calibri"/>
              </a:rPr>
              <a:t> ARETI. </a:t>
            </a:r>
          </a:p>
          <a:p>
            <a:pPr marL="342900" indent="-342900"/>
            <a:r>
              <a:rPr lang="de-DE" sz="1900" b="1" err="1">
                <a:solidFill>
                  <a:schemeClr val="tx1"/>
                </a:solidFill>
                <a:ea typeface="Calibri"/>
              </a:rPr>
              <a:t>BeFlexible</a:t>
            </a:r>
            <a:r>
              <a:rPr lang="de-DE" sz="1900" b="1">
                <a:solidFill>
                  <a:schemeClr val="tx1"/>
                </a:solidFill>
                <a:ea typeface="Calibri"/>
              </a:rPr>
              <a:t>: Bilbao </a:t>
            </a:r>
            <a:r>
              <a:rPr lang="de-DE" sz="1900" b="1" err="1">
                <a:solidFill>
                  <a:schemeClr val="tx1"/>
                </a:solidFill>
                <a:ea typeface="Calibri"/>
              </a:rPr>
              <a:t>demo</a:t>
            </a:r>
            <a:endParaRPr lang="de-DE" sz="1900" b="1" kern="0"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  <a:p>
            <a:pPr lvl="1"/>
            <a:r>
              <a:rPr lang="de-DE" sz="1400" err="1">
                <a:solidFill>
                  <a:schemeClr val="tx1"/>
                </a:solidFill>
                <a:ea typeface="Calibri"/>
              </a:rPr>
              <a:t>Optimized</a:t>
            </a:r>
            <a:r>
              <a:rPr lang="de-DE" sz="1400">
                <a:solidFill>
                  <a:schemeClr val="tx1"/>
                </a:solidFill>
                <a:ea typeface="Calibri"/>
              </a:rPr>
              <a:t> CP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recommendations</a:t>
            </a:r>
            <a:r>
              <a:rPr lang="de-DE" sz="1400">
                <a:solidFill>
                  <a:schemeClr val="tx1"/>
                </a:solidFill>
                <a:ea typeface="Calibri"/>
              </a:rPr>
              <a:t> 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throughout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the</a:t>
            </a:r>
            <a:r>
              <a:rPr lang="de-DE" sz="1400">
                <a:solidFill>
                  <a:schemeClr val="tx1"/>
                </a:solidFill>
                <a:ea typeface="Calibri"/>
              </a:rPr>
              <a:t> 24 h,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aiming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to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improve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energy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distribution</a:t>
            </a:r>
            <a:r>
              <a:rPr lang="de-DE" sz="1400">
                <a:solidFill>
                  <a:schemeClr val="tx1"/>
                </a:solidFill>
                <a:ea typeface="Calibri"/>
              </a:rPr>
              <a:t> and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reduce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congestion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through</a:t>
            </a:r>
            <a:r>
              <a:rPr lang="de-DE" sz="1400">
                <a:solidFill>
                  <a:schemeClr val="tx1"/>
                </a:solidFill>
                <a:ea typeface="Calibri"/>
              </a:rPr>
              <a:t> a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before</a:t>
            </a:r>
            <a:r>
              <a:rPr lang="de-DE" sz="1400">
                <a:solidFill>
                  <a:schemeClr val="tx1"/>
                </a:solidFill>
                <a:ea typeface="Calibri"/>
              </a:rPr>
              <a:t>-and-after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analysis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of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demand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patterns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with</a:t>
            </a:r>
            <a:r>
              <a:rPr lang="de-DE" sz="1400">
                <a:solidFill>
                  <a:schemeClr val="tx1"/>
                </a:solidFill>
                <a:ea typeface="Calibri"/>
              </a:rPr>
              <a:t> i-de.</a:t>
            </a:r>
            <a:endParaRPr lang="de-DE" sz="1400">
              <a:solidFill>
                <a:schemeClr val="tx1"/>
              </a:solidFill>
              <a:effectLst/>
              <a:ea typeface="Calibri"/>
            </a:endParaRPr>
          </a:p>
          <a:p>
            <a:pPr lvl="1"/>
            <a:endParaRPr lang="de-DE" sz="1400">
              <a:solidFill>
                <a:srgbClr val="FF0000"/>
              </a:solidFill>
              <a:ea typeface="Calibri" panose="020F0502020204030204" pitchFamily="34" charset="0"/>
            </a:endParaRPr>
          </a:p>
          <a:p>
            <a:pPr marL="342900" indent="-342900"/>
            <a:endParaRPr lang="de-DE" sz="1900">
              <a:solidFill>
                <a:srgbClr val="FF0000"/>
              </a:solidFill>
              <a:ea typeface="Calibri" panose="020F0502020204030204" pitchFamily="34" charset="0"/>
            </a:endParaRPr>
          </a:p>
          <a:p>
            <a:pPr marL="342900" indent="-342900"/>
            <a:endParaRPr lang="de-DE" sz="2000" b="1">
              <a:solidFill>
                <a:srgbClr val="FF0000"/>
              </a:solidFill>
              <a:ea typeface="Calibri" panose="020F0502020204030204" pitchFamily="34" charset="0"/>
            </a:endParaRPr>
          </a:p>
          <a:p>
            <a:pPr marL="76200" indent="0">
              <a:buNone/>
            </a:pPr>
            <a:endParaRPr lang="de-DE" sz="1800" b="1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76200" indent="0">
              <a:buNone/>
            </a:pPr>
            <a:endParaRPr lang="en-US" sz="1800">
              <a:latin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A853D-DF0F-E3B1-C02C-D586E4028F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7F7E67-2D51-2A95-7CE3-B4669F28B00E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963809-8644-4B1C-75A0-DD58CD5B02F8}"/>
              </a:ext>
            </a:extLst>
          </p:cNvPr>
          <p:cNvSpPr txBox="1">
            <a:spLocks/>
          </p:cNvSpPr>
          <p:nvPr/>
        </p:nvSpPr>
        <p:spPr>
          <a:xfrm>
            <a:off x="415600" y="282975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ADE"/>
              </a:buClr>
              <a:buSzPts val="3700"/>
              <a:buFont typeface="Century Gothic"/>
              <a:buNone/>
              <a:defRPr sz="3700" b="0" i="0" u="none" strike="noStrike" cap="none">
                <a:solidFill>
                  <a:srgbClr val="009AD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de-DE"/>
              <a:t>Key Achievements in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past</a:t>
            </a:r>
            <a:r>
              <a:rPr lang="de-DE"/>
              <a:t> </a:t>
            </a:r>
            <a:r>
              <a:rPr lang="de-DE" err="1"/>
              <a:t>year</a:t>
            </a:r>
            <a:endParaRPr lang="de-DE"/>
          </a:p>
        </p:txBody>
      </p:sp>
      <p:sp>
        <p:nvSpPr>
          <p:cNvPr id="7" name="Google Shape;161;p6">
            <a:extLst>
              <a:ext uri="{FF2B5EF4-FFF2-40B4-BE49-F238E27FC236}">
                <a16:creationId xmlns:a16="http://schemas.microsoft.com/office/drawing/2014/main" id="{3600CA90-4B5F-D8C0-500B-C810D8F2CB83}"/>
              </a:ext>
            </a:extLst>
          </p:cNvPr>
          <p:cNvSpPr txBox="1">
            <a:spLocks/>
          </p:cNvSpPr>
          <p:nvPr/>
        </p:nvSpPr>
        <p:spPr>
          <a:xfrm>
            <a:off x="415633" y="1210010"/>
            <a:ext cx="993284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ADE"/>
              </a:buClr>
              <a:buSzPts val="3700"/>
              <a:buFont typeface="Century Gothic"/>
              <a:buNone/>
              <a:defRPr sz="3700" b="0" i="0" u="none" strike="noStrike" cap="none">
                <a:solidFill>
                  <a:srgbClr val="009AD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de-DE" sz="2400" b="1" err="1"/>
              <a:t>Evrich</a:t>
            </a:r>
            <a:r>
              <a:rPr lang="de-DE" sz="2400" b="1"/>
              <a:t> &amp; </a:t>
            </a:r>
            <a:r>
              <a:rPr lang="de-DE" sz="2400" b="1" err="1"/>
              <a:t>routevolt</a:t>
            </a:r>
            <a:r>
              <a:rPr lang="de-DE" sz="2400" b="1"/>
              <a:t>: </a:t>
            </a:r>
            <a:r>
              <a:rPr lang="de-DE" sz="2400" b="1" err="1"/>
              <a:t>Conducted</a:t>
            </a:r>
            <a:r>
              <a:rPr lang="de-DE" sz="2400" b="1"/>
              <a:t> </a:t>
            </a:r>
            <a:r>
              <a:rPr lang="de-DE" sz="2400" b="1" err="1"/>
              <a:t>two</a:t>
            </a:r>
            <a:r>
              <a:rPr lang="de-DE" sz="2400" b="1"/>
              <a:t> </a:t>
            </a:r>
            <a:r>
              <a:rPr lang="de-DE" sz="2400" b="1" err="1"/>
              <a:t>demos</a:t>
            </a:r>
            <a:r>
              <a:rPr lang="de-DE" sz="2400" b="1"/>
              <a:t> </a:t>
            </a:r>
            <a:r>
              <a:rPr lang="de-DE" sz="2400" b="1" err="1"/>
              <a:t>within</a:t>
            </a:r>
            <a:r>
              <a:rPr lang="de-DE" sz="2400" b="1"/>
              <a:t> </a:t>
            </a:r>
            <a:r>
              <a:rPr lang="de-DE" sz="2400" b="1" err="1"/>
              <a:t>two</a:t>
            </a:r>
            <a:r>
              <a:rPr lang="de-DE" sz="2400" b="1"/>
              <a:t> EU </a:t>
            </a:r>
            <a:r>
              <a:rPr lang="de-DE" sz="2400" b="1" err="1"/>
              <a:t>projects</a:t>
            </a:r>
            <a:endParaRPr lang="de-DE" sz="2400" b="1"/>
          </a:p>
        </p:txBody>
      </p:sp>
      <p:pic>
        <p:nvPicPr>
          <p:cNvPr id="8" name="Picture 7" descr="A map of a city with a river and a city with a river&#10;&#10;AI-generated content may be incorrect.">
            <a:extLst>
              <a:ext uri="{FF2B5EF4-FFF2-40B4-BE49-F238E27FC236}">
                <a16:creationId xmlns:a16="http://schemas.microsoft.com/office/drawing/2014/main" id="{3A14FC12-13DD-E191-0031-BDF43BE7E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891" y="4011819"/>
            <a:ext cx="3028580" cy="2377169"/>
          </a:xfrm>
          <a:prstGeom prst="rect">
            <a:avLst/>
          </a:prstGeom>
        </p:spPr>
      </p:pic>
      <p:pic>
        <p:nvPicPr>
          <p:cNvPr id="9" name="Picture 8" descr="A map of a city&#10;&#10;AI-generated content may be incorrect.">
            <a:extLst>
              <a:ext uri="{FF2B5EF4-FFF2-40B4-BE49-F238E27FC236}">
                <a16:creationId xmlns:a16="http://schemas.microsoft.com/office/drawing/2014/main" id="{B23A57EF-2450-8784-9164-9B90F038D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161" y="1786554"/>
            <a:ext cx="4303940" cy="215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228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A3AE7-21F8-A2B8-FB27-68D0D07DB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76C48-F552-E496-7903-6ED52BF9B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731012"/>
            <a:ext cx="5903306" cy="2247540"/>
          </a:xfrm>
        </p:spPr>
        <p:txBody>
          <a:bodyPr/>
          <a:lstStyle/>
          <a:p>
            <a:pPr marL="0" indent="0">
              <a:buNone/>
            </a:pPr>
            <a:r>
              <a:rPr lang="de-DE" sz="1900" b="1" err="1">
                <a:solidFill>
                  <a:schemeClr val="tx1"/>
                </a:solidFill>
                <a:ea typeface="Calibri"/>
              </a:rPr>
              <a:t>BeFlexible</a:t>
            </a:r>
            <a:r>
              <a:rPr lang="de-DE" sz="1900" b="1">
                <a:solidFill>
                  <a:schemeClr val="tx1"/>
                </a:solidFill>
                <a:ea typeface="Calibri"/>
              </a:rPr>
              <a:t>: Rome </a:t>
            </a:r>
            <a:r>
              <a:rPr lang="de-DE" sz="1900" b="1" err="1">
                <a:solidFill>
                  <a:schemeClr val="tx1"/>
                </a:solidFill>
                <a:ea typeface="Calibri"/>
              </a:rPr>
              <a:t>demo</a:t>
            </a:r>
            <a:endParaRPr lang="de-DE" sz="1900" b="1">
              <a:solidFill>
                <a:schemeClr val="tx1"/>
              </a:solidFill>
              <a:ea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de-DE" sz="1400">
                <a:solidFill>
                  <a:schemeClr val="tx1"/>
                </a:solidFill>
                <a:ea typeface="Calibri"/>
              </a:rPr>
              <a:t>The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pyvolt</a:t>
            </a:r>
            <a:r>
              <a:rPr lang="de-DE" sz="1400">
                <a:solidFill>
                  <a:schemeClr val="tx1"/>
                </a:solidFill>
                <a:ea typeface="Calibri"/>
              </a:rPr>
              <a:t> was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used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with</a:t>
            </a:r>
            <a:r>
              <a:rPr lang="de-DE" sz="1400">
                <a:solidFill>
                  <a:schemeClr val="tx1"/>
                </a:solidFill>
                <a:ea typeface="Calibri"/>
              </a:rPr>
              <a:t> a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low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cost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pmu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devoloped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by</a:t>
            </a:r>
            <a:r>
              <a:rPr lang="de-DE" sz="1400">
                <a:solidFill>
                  <a:schemeClr val="tx1"/>
                </a:solidFill>
                <a:ea typeface="Calibri"/>
              </a:rPr>
              <a:t> RWTH Aachen. This was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used</a:t>
            </a:r>
            <a:r>
              <a:rPr lang="de-DE" sz="1400">
                <a:solidFill>
                  <a:schemeClr val="tx1"/>
                </a:solidFill>
                <a:ea typeface="Calibri"/>
              </a:rPr>
              <a:t> in a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secondary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substation</a:t>
            </a:r>
            <a:r>
              <a:rPr lang="de-DE" sz="1400">
                <a:solidFill>
                  <a:schemeClr val="tx1"/>
                </a:solidFill>
                <a:ea typeface="Calibri"/>
              </a:rPr>
              <a:t> in Rome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with</a:t>
            </a:r>
            <a:r>
              <a:rPr lang="de-DE" sz="1400">
                <a:solidFill>
                  <a:schemeClr val="tx1"/>
                </a:solidFill>
                <a:ea typeface="Calibri"/>
              </a:rPr>
              <a:t> ARETI. The 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data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streamed</a:t>
            </a:r>
            <a:r>
              <a:rPr lang="de-DE" sz="1400">
                <a:solidFill>
                  <a:schemeClr val="tx1"/>
                </a:solidFill>
                <a:ea typeface="Calibri"/>
              </a:rPr>
              <a:t> was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used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for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state</a:t>
            </a:r>
            <a:r>
              <a:rPr lang="de-DE" sz="1400">
                <a:solidFill>
                  <a:schemeClr val="tx1"/>
                </a:solidFill>
                <a:ea typeface="Calibri"/>
              </a:rPr>
              <a:t> 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estimation</a:t>
            </a:r>
            <a:r>
              <a:rPr lang="de-DE" sz="1400">
                <a:solidFill>
                  <a:schemeClr val="tx1"/>
                </a:solidFill>
                <a:ea typeface="Calibri"/>
              </a:rPr>
              <a:t>,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improving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the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observability</a:t>
            </a:r>
            <a:r>
              <a:rPr lang="de-DE" sz="1400">
                <a:solidFill>
                  <a:schemeClr val="tx1"/>
                </a:solidFill>
                <a:ea typeface="Calibri"/>
              </a:rPr>
              <a:t> and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congestion</a:t>
            </a:r>
            <a:r>
              <a:rPr lang="de-DE" sz="1400">
                <a:solidFill>
                  <a:schemeClr val="tx1"/>
                </a:solidFill>
                <a:ea typeface="Calibri"/>
              </a:rPr>
              <a:t> </a:t>
            </a:r>
            <a:r>
              <a:rPr lang="de-DE" sz="1400" err="1">
                <a:solidFill>
                  <a:schemeClr val="tx1"/>
                </a:solidFill>
                <a:ea typeface="Calibri"/>
              </a:rPr>
              <a:t>detection</a:t>
            </a:r>
            <a:r>
              <a:rPr lang="de-DE" sz="1400">
                <a:solidFill>
                  <a:schemeClr val="tx1"/>
                </a:solidFill>
                <a:ea typeface="Calibri"/>
              </a:rPr>
              <a:t>. </a:t>
            </a:r>
            <a:endParaRPr lang="de-DE" sz="1900"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  <a:p>
            <a:pPr lvl="1"/>
            <a:endParaRPr lang="de-DE" sz="1400">
              <a:solidFill>
                <a:srgbClr val="FF0000"/>
              </a:solidFill>
              <a:ea typeface="Calibri" panose="020F0502020204030204" pitchFamily="34" charset="0"/>
            </a:endParaRPr>
          </a:p>
          <a:p>
            <a:pPr marL="342900" indent="-342900"/>
            <a:endParaRPr lang="de-DE" sz="1900">
              <a:solidFill>
                <a:srgbClr val="FF0000"/>
              </a:solidFill>
              <a:ea typeface="Calibri" panose="020F0502020204030204" pitchFamily="34" charset="0"/>
            </a:endParaRPr>
          </a:p>
          <a:p>
            <a:pPr marL="342900" indent="-342900"/>
            <a:endParaRPr lang="de-DE" sz="2000" b="1">
              <a:solidFill>
                <a:srgbClr val="FF0000"/>
              </a:solidFill>
              <a:ea typeface="Calibri" panose="020F0502020204030204" pitchFamily="34" charset="0"/>
            </a:endParaRPr>
          </a:p>
          <a:p>
            <a:pPr marL="76200" indent="0">
              <a:buNone/>
            </a:pPr>
            <a:endParaRPr lang="de-DE" sz="1800" b="1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76200" indent="0">
              <a:buNone/>
            </a:pPr>
            <a:endParaRPr lang="en-US" sz="1800">
              <a:latin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B39C5-2A52-D9C7-3B21-D2412790C3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94BBFB-C8E0-1509-C542-797A92EEF244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46A03F1-B684-B5F1-0061-BA4A498281E3}"/>
              </a:ext>
            </a:extLst>
          </p:cNvPr>
          <p:cNvSpPr txBox="1">
            <a:spLocks/>
          </p:cNvSpPr>
          <p:nvPr/>
        </p:nvSpPr>
        <p:spPr>
          <a:xfrm>
            <a:off x="415600" y="282975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ADE"/>
              </a:buClr>
              <a:buSzPts val="3700"/>
              <a:buFont typeface="Century Gothic"/>
              <a:buNone/>
              <a:defRPr sz="3700" b="0" i="0" u="none" strike="noStrike" cap="none">
                <a:solidFill>
                  <a:srgbClr val="009AD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de-DE"/>
              <a:t>Key Achievements in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past</a:t>
            </a:r>
            <a:r>
              <a:rPr lang="de-DE"/>
              <a:t> </a:t>
            </a:r>
            <a:r>
              <a:rPr lang="de-DE" err="1"/>
              <a:t>year</a:t>
            </a:r>
            <a:endParaRPr lang="de-DE"/>
          </a:p>
        </p:txBody>
      </p:sp>
      <p:sp>
        <p:nvSpPr>
          <p:cNvPr id="7" name="Google Shape;161;p6">
            <a:extLst>
              <a:ext uri="{FF2B5EF4-FFF2-40B4-BE49-F238E27FC236}">
                <a16:creationId xmlns:a16="http://schemas.microsoft.com/office/drawing/2014/main" id="{19E762EE-B107-375E-B02F-20A53207AE46}"/>
              </a:ext>
            </a:extLst>
          </p:cNvPr>
          <p:cNvSpPr txBox="1">
            <a:spLocks/>
          </p:cNvSpPr>
          <p:nvPr/>
        </p:nvSpPr>
        <p:spPr>
          <a:xfrm>
            <a:off x="415633" y="1149050"/>
            <a:ext cx="10158417" cy="563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ADE"/>
              </a:buClr>
              <a:buSzPts val="3700"/>
              <a:buFont typeface="Century Gothic"/>
              <a:buNone/>
              <a:defRPr sz="3700" b="0" i="0" u="none" strike="noStrike" cap="none">
                <a:solidFill>
                  <a:srgbClr val="009AD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de-DE" sz="2400" b="1" err="1"/>
              <a:t>Pyvolt</a:t>
            </a:r>
            <a:r>
              <a:rPr lang="de-DE" sz="2400" b="1"/>
              <a:t> and PMU </a:t>
            </a:r>
            <a:r>
              <a:rPr lang="de-DE" sz="2400" b="1" err="1"/>
              <a:t>based</a:t>
            </a:r>
            <a:r>
              <a:rPr lang="de-DE" sz="2400" b="1"/>
              <a:t> </a:t>
            </a:r>
            <a:r>
              <a:rPr lang="en-US" sz="2400" b="1"/>
              <a:t>observability</a:t>
            </a:r>
            <a:r>
              <a:rPr lang="de-DE" sz="2400" b="1"/>
              <a:t> </a:t>
            </a:r>
            <a:r>
              <a:rPr lang="de-DE" sz="2400" b="1" err="1"/>
              <a:t>demonstrated</a:t>
            </a:r>
            <a:r>
              <a:rPr lang="de-DE" sz="2400" b="1"/>
              <a:t> in </a:t>
            </a:r>
            <a:r>
              <a:rPr lang="de-DE" sz="2400" b="1" err="1"/>
              <a:t>the</a:t>
            </a:r>
            <a:r>
              <a:rPr lang="de-DE" sz="2400" b="1"/>
              <a:t> </a:t>
            </a:r>
            <a:r>
              <a:rPr lang="de-DE" sz="2400" b="1" err="1"/>
              <a:t>field</a:t>
            </a:r>
            <a:r>
              <a:rPr lang="de-DE" sz="2400" b="1"/>
              <a:t> 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A387EB-ADA4-20B6-7EE7-04FF0DD3D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904" y="1718780"/>
            <a:ext cx="4979164" cy="2494464"/>
          </a:xfrm>
          <a:prstGeom prst="rect">
            <a:avLst/>
          </a:prstGeom>
        </p:spPr>
      </p:pic>
      <p:pic>
        <p:nvPicPr>
          <p:cNvPr id="10" name="Picture 9" descr="A graph of a stock market&#10;&#10;AI-generated content may be incorrect.">
            <a:extLst>
              <a:ext uri="{FF2B5EF4-FFF2-40B4-BE49-F238E27FC236}">
                <a16:creationId xmlns:a16="http://schemas.microsoft.com/office/drawing/2014/main" id="{BC443E49-E5A7-2BD2-DF1E-71F1FE016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624" y="4299392"/>
            <a:ext cx="10732141" cy="190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842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0916A5-B390-9980-B44B-67EA8CB94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4698" y="1258006"/>
            <a:ext cx="11360700" cy="2061939"/>
          </a:xfrm>
        </p:spPr>
        <p:txBody>
          <a:bodyPr/>
          <a:lstStyle/>
          <a:p>
            <a:r>
              <a:rPr lang="en-US" sz="2000">
                <a:ea typeface="Calibri"/>
              </a:rPr>
              <a:t>Improved handling of time features</a:t>
            </a:r>
            <a:endParaRPr lang="en-US"/>
          </a:p>
          <a:p>
            <a:r>
              <a:rPr lang="en-US" sz="2000">
                <a:solidFill>
                  <a:srgbClr val="000000"/>
                </a:solidFill>
                <a:ea typeface="Calibri"/>
              </a:rPr>
              <a:t>Preprocessing steps to create generalizable model (needs evaluation)</a:t>
            </a:r>
          </a:p>
          <a:p>
            <a:r>
              <a:rPr lang="en-US" sz="2000">
                <a:solidFill>
                  <a:srgbClr val="000000"/>
                </a:solidFill>
                <a:ea typeface="Calibri"/>
              </a:rPr>
              <a:t>Various QOL improvements</a:t>
            </a:r>
          </a:p>
          <a:p>
            <a:r>
              <a:rPr lang="en-US" sz="2000">
                <a:solidFill>
                  <a:srgbClr val="000000"/>
                </a:solidFill>
                <a:ea typeface="Calibri"/>
              </a:rPr>
              <a:t>Integration as Event based Service in </a:t>
            </a:r>
            <a:r>
              <a:rPr lang="en-US" sz="2000" err="1">
                <a:solidFill>
                  <a:srgbClr val="000000"/>
                </a:solidFill>
                <a:ea typeface="Calibri"/>
              </a:rPr>
              <a:t>OpenEnergyTwin</a:t>
            </a:r>
          </a:p>
          <a:p>
            <a:r>
              <a:rPr lang="en-US" sz="2000">
                <a:solidFill>
                  <a:srgbClr val="000000"/>
                </a:solidFill>
                <a:ea typeface="Calibri"/>
              </a:rPr>
              <a:t>Parallel Training now possible</a:t>
            </a:r>
          </a:p>
          <a:p>
            <a:pPr lvl="1">
              <a:buFont typeface="Courier New"/>
              <a:buChar char="o"/>
            </a:pPr>
            <a:endParaRPr lang="en-US">
              <a:solidFill>
                <a:srgbClr val="000000"/>
              </a:solidFill>
              <a:effectLst/>
              <a:ea typeface="Calibri"/>
            </a:endParaRPr>
          </a:p>
          <a:p>
            <a:pPr marL="76200" indent="0">
              <a:buNone/>
            </a:pPr>
            <a:endParaRPr lang="de-DE" sz="2000" b="1">
              <a:solidFill>
                <a:srgbClr val="FF0000"/>
              </a:solidFill>
              <a:ea typeface="Calibri"/>
            </a:endParaRPr>
          </a:p>
          <a:p>
            <a:pPr marL="76200" indent="0">
              <a:buNone/>
            </a:pPr>
            <a:endParaRPr lang="en-US" sz="1800">
              <a:effectLst/>
              <a:latin typeface="Segoe UI" panose="020B0502040204020203" pitchFamily="34" charset="0"/>
              <a:ea typeface="Calibri"/>
            </a:endParaRPr>
          </a:p>
          <a:p>
            <a:pPr marL="76200" indent="0">
              <a:buNone/>
            </a:pPr>
            <a:endParaRPr lang="en-US" sz="1800">
              <a:latin typeface="Segoe UI" panose="020B0502040204020203" pitchFamily="34" charset="0"/>
            </a:endParaRPr>
          </a:p>
          <a:p>
            <a:endParaRPr lang="de-DE" sz="1800"/>
          </a:p>
          <a:p>
            <a:pPr marL="76200" indent="0">
              <a:buNone/>
            </a:pPr>
            <a:endParaRPr lang="en-US" sz="1800">
              <a:latin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A2091-5E9F-E94E-981F-E842594678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62BE19-32E9-2A67-99BE-4D8EC8AE179F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A8D642D-0206-6F0E-C3A5-50A53780A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119689"/>
            <a:ext cx="8692718" cy="763500"/>
          </a:xfrm>
        </p:spPr>
        <p:txBody>
          <a:bodyPr/>
          <a:lstStyle/>
          <a:p>
            <a:r>
              <a:rPr lang="de-DE"/>
              <a:t>Key Achievements in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past</a:t>
            </a:r>
            <a:r>
              <a:rPr lang="de-DE"/>
              <a:t> </a:t>
            </a:r>
            <a:r>
              <a:rPr lang="de-DE" err="1"/>
              <a:t>year</a:t>
            </a:r>
            <a:endParaRPr lang="de-DE" err="1">
              <a:solidFill>
                <a:srgbClr val="FF0000"/>
              </a:solidFill>
            </a:endParaRPr>
          </a:p>
        </p:txBody>
      </p:sp>
      <p:pic>
        <p:nvPicPr>
          <p:cNvPr id="6" name="Picture 5" descr="Proloaf Logo">
            <a:extLst>
              <a:ext uri="{FF2B5EF4-FFF2-40B4-BE49-F238E27FC236}">
                <a16:creationId xmlns:a16="http://schemas.microsoft.com/office/drawing/2014/main" id="{E943B62C-A669-89F3-9A01-730524318B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314" r="34328"/>
          <a:stretch/>
        </p:blipFill>
        <p:spPr>
          <a:xfrm>
            <a:off x="7786517" y="942835"/>
            <a:ext cx="2976272" cy="770021"/>
          </a:xfrm>
          <a:prstGeom prst="rect">
            <a:avLst/>
          </a:prstGeom>
        </p:spPr>
      </p:pic>
      <p:sp>
        <p:nvSpPr>
          <p:cNvPr id="7" name="Google Shape;161;p6">
            <a:extLst>
              <a:ext uri="{FF2B5EF4-FFF2-40B4-BE49-F238E27FC236}">
                <a16:creationId xmlns:a16="http://schemas.microsoft.com/office/drawing/2014/main" id="{755037D5-C3C9-0BDD-6A25-B1D35331119E}"/>
              </a:ext>
            </a:extLst>
          </p:cNvPr>
          <p:cNvSpPr txBox="1">
            <a:spLocks/>
          </p:cNvSpPr>
          <p:nvPr/>
        </p:nvSpPr>
        <p:spPr>
          <a:xfrm>
            <a:off x="491833" y="87908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ADE"/>
              </a:buClr>
              <a:buSzPts val="3700"/>
              <a:buFont typeface="Century Gothic"/>
              <a:buNone/>
              <a:defRPr sz="3700" b="0" i="0" u="none" strike="noStrike" cap="none">
                <a:solidFill>
                  <a:srgbClr val="009AD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de-DE" sz="2400" b="1" err="1"/>
              <a:t>Proloaf</a:t>
            </a:r>
            <a:r>
              <a:rPr lang="de-DE" sz="2400" b="1"/>
              <a:t> Upgrade 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4390299-A5A4-0B2E-5342-B0F46141A225}"/>
              </a:ext>
            </a:extLst>
          </p:cNvPr>
          <p:cNvSpPr txBox="1">
            <a:spLocks/>
          </p:cNvSpPr>
          <p:nvPr/>
        </p:nvSpPr>
        <p:spPr>
          <a:xfrm>
            <a:off x="295907" y="4297691"/>
            <a:ext cx="9771386" cy="2441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Char char="●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Char char="○"/>
              <a:defRPr sz="1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Char char="■"/>
              <a:defRPr sz="1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Char char="●"/>
              <a:defRPr sz="1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Char char="○"/>
              <a:defRPr sz="1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Char char="■"/>
              <a:defRPr sz="1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Char char="●"/>
              <a:defRPr sz="1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Char char="○"/>
              <a:defRPr sz="1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9250" algn="l" rtl="0">
              <a:lnSpc>
                <a:spcPct val="150000"/>
              </a:lnSpc>
              <a:spcBef>
                <a:spcPts val="0"/>
              </a:spcBef>
              <a:spcAft>
                <a:spcPts val="2100"/>
              </a:spcAft>
              <a:buClr>
                <a:schemeClr val="dk1"/>
              </a:buClr>
              <a:buSzPts val="1900"/>
              <a:buFont typeface="Century Gothic"/>
              <a:buChar char="■"/>
              <a:defRPr sz="1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457200" lvl="1" indent="-381000">
              <a:buSzPts val="2400"/>
              <a:buFont typeface="Century Gothic"/>
              <a:buChar char="●"/>
            </a:pPr>
            <a:r>
              <a:rPr lang="en-US" sz="2000">
                <a:ea typeface="Calibri"/>
              </a:rPr>
              <a:t>Handling of life battery data</a:t>
            </a:r>
          </a:p>
          <a:p>
            <a:pPr marL="457200" indent="-381000">
              <a:buSzPts val="2400"/>
              <a:buFont typeface="Century Gothic"/>
              <a:buChar char="●"/>
            </a:pPr>
            <a:r>
              <a:rPr lang="en-US" sz="2000">
                <a:ea typeface="Calibri"/>
              </a:rPr>
              <a:t>Various QOL improvements</a:t>
            </a:r>
          </a:p>
          <a:p>
            <a:pPr marL="457200" lvl="1" indent="-381000">
              <a:buSzPts val="2400"/>
              <a:buFont typeface="Century Gothic"/>
              <a:buChar char="●"/>
            </a:pPr>
            <a:r>
              <a:rPr lang="en-US" sz="2000">
                <a:ea typeface="Calibri"/>
              </a:rPr>
              <a:t>Major code restructuring (under review)</a:t>
            </a:r>
          </a:p>
        </p:txBody>
      </p:sp>
      <p:sp>
        <p:nvSpPr>
          <p:cNvPr id="9" name="Google Shape;161;p6">
            <a:extLst>
              <a:ext uri="{FF2B5EF4-FFF2-40B4-BE49-F238E27FC236}">
                <a16:creationId xmlns:a16="http://schemas.microsoft.com/office/drawing/2014/main" id="{356B2193-463F-F27D-BE85-094034DB8F20}"/>
              </a:ext>
            </a:extLst>
          </p:cNvPr>
          <p:cNvSpPr txBox="1">
            <a:spLocks/>
          </p:cNvSpPr>
          <p:nvPr/>
        </p:nvSpPr>
        <p:spPr>
          <a:xfrm>
            <a:off x="501993" y="388554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ADE"/>
              </a:buClr>
              <a:buSzPts val="3700"/>
              <a:buFont typeface="Century Gothic"/>
              <a:buNone/>
              <a:defRPr sz="3700" b="0" i="0" u="none" strike="noStrike" cap="none">
                <a:solidFill>
                  <a:srgbClr val="009AD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3100" b="1" err="1"/>
              <a:t>PyMFM</a:t>
            </a:r>
            <a:r>
              <a:rPr lang="en-US" sz="3100" b="1"/>
              <a:t> Upgrade</a:t>
            </a:r>
          </a:p>
          <a:p>
            <a:endParaRPr lang="de-DE" sz="2400" b="1"/>
          </a:p>
        </p:txBody>
      </p:sp>
    </p:spTree>
    <p:extLst>
      <p:ext uri="{BB962C8B-B14F-4D97-AF65-F5344CB8AC3E}">
        <p14:creationId xmlns:p14="http://schemas.microsoft.com/office/powerpoint/2010/main" val="2948566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B8FB9-C124-9B3C-7C95-A935C6BB7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A46DE5-7B0E-3734-F869-1F5D895D1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4698" y="1258006"/>
            <a:ext cx="11360700" cy="2061939"/>
          </a:xfrm>
        </p:spPr>
        <p:txBody>
          <a:bodyPr/>
          <a:lstStyle/>
          <a:p>
            <a:r>
              <a:rPr lang="en-US" sz="2000">
                <a:ea typeface="Calibri"/>
              </a:rPr>
              <a:t>Helm Version (unreleased)</a:t>
            </a:r>
            <a:endParaRPr lang="en-US"/>
          </a:p>
          <a:p>
            <a:r>
              <a:rPr lang="en-US" sz="2000">
                <a:solidFill>
                  <a:srgbClr val="000000"/>
                </a:solidFill>
                <a:ea typeface="Calibri"/>
              </a:rPr>
              <a:t>Improved Simulation allowing Experiment chains and comparison of scenarios (unreleased)</a:t>
            </a:r>
          </a:p>
          <a:p>
            <a:pPr lvl="1">
              <a:buFont typeface="Courier New"/>
              <a:buChar char="o"/>
            </a:pPr>
            <a:endParaRPr lang="en-US">
              <a:solidFill>
                <a:srgbClr val="000000"/>
              </a:solidFill>
              <a:effectLst/>
              <a:ea typeface="Calibri"/>
            </a:endParaRPr>
          </a:p>
          <a:p>
            <a:pPr marL="76200" indent="0">
              <a:buNone/>
            </a:pPr>
            <a:endParaRPr lang="de-DE" sz="2000" b="1">
              <a:solidFill>
                <a:srgbClr val="FF0000"/>
              </a:solidFill>
              <a:ea typeface="Calibri"/>
            </a:endParaRPr>
          </a:p>
          <a:p>
            <a:pPr marL="76200" indent="0">
              <a:buNone/>
            </a:pPr>
            <a:endParaRPr lang="en-US" sz="1800">
              <a:effectLst/>
              <a:latin typeface="Segoe UI" panose="020B0502040204020203" pitchFamily="34" charset="0"/>
              <a:ea typeface="Calibri"/>
            </a:endParaRPr>
          </a:p>
          <a:p>
            <a:pPr marL="76200" indent="0">
              <a:buNone/>
            </a:pPr>
            <a:endParaRPr lang="en-US" sz="1800">
              <a:latin typeface="Segoe UI" panose="020B0502040204020203" pitchFamily="34" charset="0"/>
              <a:ea typeface="Calibri"/>
            </a:endParaRPr>
          </a:p>
          <a:p>
            <a:endParaRPr lang="de-DE" sz="1800"/>
          </a:p>
          <a:p>
            <a:pPr marL="76200" indent="0">
              <a:buNone/>
            </a:pPr>
            <a:endParaRPr lang="en-US" sz="1800">
              <a:latin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35BD3-3D61-5D05-F99D-D6865AFA83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3A47F7-D56E-7576-65DE-EB7F939A5B78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DA6D595-A777-5ACC-1185-5194987A8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119689"/>
            <a:ext cx="8692718" cy="763500"/>
          </a:xfrm>
        </p:spPr>
        <p:txBody>
          <a:bodyPr/>
          <a:lstStyle/>
          <a:p>
            <a:r>
              <a:rPr lang="de-DE"/>
              <a:t>Key Achievements in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past</a:t>
            </a:r>
            <a:r>
              <a:rPr lang="de-DE"/>
              <a:t> </a:t>
            </a:r>
            <a:r>
              <a:rPr lang="de-DE" err="1"/>
              <a:t>year</a:t>
            </a:r>
          </a:p>
        </p:txBody>
      </p:sp>
      <p:sp>
        <p:nvSpPr>
          <p:cNvPr id="7" name="Google Shape;161;p6">
            <a:extLst>
              <a:ext uri="{FF2B5EF4-FFF2-40B4-BE49-F238E27FC236}">
                <a16:creationId xmlns:a16="http://schemas.microsoft.com/office/drawing/2014/main" id="{2E413D89-C0E0-B244-884C-1D7F9ADED65D}"/>
              </a:ext>
            </a:extLst>
          </p:cNvPr>
          <p:cNvSpPr txBox="1">
            <a:spLocks/>
          </p:cNvSpPr>
          <p:nvPr/>
        </p:nvSpPr>
        <p:spPr>
          <a:xfrm>
            <a:off x="410553" y="94004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ADE"/>
              </a:buClr>
              <a:buSzPts val="3700"/>
              <a:buFont typeface="Century Gothic"/>
              <a:buNone/>
              <a:defRPr sz="3700" b="0" i="0" u="none" strike="noStrike" cap="none">
                <a:solidFill>
                  <a:srgbClr val="009AD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de-DE" sz="2400" b="1" err="1"/>
              <a:t>Evrich</a:t>
            </a:r>
            <a:r>
              <a:rPr lang="de-DE" sz="2400" b="1"/>
              <a:t> Upgrade 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5939C50-697F-48C2-1AB5-4FA9236E5524}"/>
              </a:ext>
            </a:extLst>
          </p:cNvPr>
          <p:cNvSpPr txBox="1">
            <a:spLocks/>
          </p:cNvSpPr>
          <p:nvPr/>
        </p:nvSpPr>
        <p:spPr>
          <a:xfrm>
            <a:off x="295907" y="3608262"/>
            <a:ext cx="9771386" cy="2441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Char char="●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Char char="○"/>
              <a:defRPr sz="1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Char char="■"/>
              <a:defRPr sz="1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Char char="●"/>
              <a:defRPr sz="1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Char char="○"/>
              <a:defRPr sz="1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Char char="■"/>
              <a:defRPr sz="1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Char char="●"/>
              <a:defRPr sz="1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Char char="○"/>
              <a:defRPr sz="1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9250" algn="l" rtl="0">
              <a:lnSpc>
                <a:spcPct val="150000"/>
              </a:lnSpc>
              <a:spcBef>
                <a:spcPts val="0"/>
              </a:spcBef>
              <a:spcAft>
                <a:spcPts val="2100"/>
              </a:spcAft>
              <a:buClr>
                <a:schemeClr val="dk1"/>
              </a:buClr>
              <a:buSzPts val="1900"/>
              <a:buFont typeface="Century Gothic"/>
              <a:buChar char="■"/>
              <a:defRPr sz="1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457200" lvl="1" indent="-381000">
              <a:buSzPts val="2400"/>
              <a:buFont typeface="Century Gothic"/>
              <a:buChar char="●"/>
            </a:pPr>
            <a:r>
              <a:rPr lang="en-US" sz="2000">
                <a:ea typeface="Calibri"/>
              </a:rPr>
              <a:t>Prototype for </a:t>
            </a:r>
            <a:r>
              <a:rPr lang="en-US" sz="2000" err="1">
                <a:ea typeface="Calibri"/>
              </a:rPr>
              <a:t>eventbased</a:t>
            </a:r>
            <a:r>
              <a:rPr lang="en-US" sz="2000">
                <a:ea typeface="Calibri"/>
              </a:rPr>
              <a:t> architecture.</a:t>
            </a:r>
          </a:p>
          <a:p>
            <a:pPr marL="457200" lvl="1" indent="-381000">
              <a:buSzPts val="2400"/>
              <a:buFont typeface="Century Gothic"/>
              <a:buChar char="●"/>
            </a:pPr>
            <a:r>
              <a:rPr lang="en-US" sz="2000">
                <a:ea typeface="Calibri"/>
              </a:rPr>
              <a:t>Based on Kafka</a:t>
            </a:r>
          </a:p>
          <a:p>
            <a:pPr marL="457200" lvl="1" indent="-381000">
              <a:buSzPts val="2400"/>
              <a:buFont typeface="Century Gothic"/>
              <a:buChar char="●"/>
            </a:pPr>
            <a:r>
              <a:rPr lang="en-US" sz="2000">
                <a:ea typeface="Calibri"/>
              </a:rPr>
              <a:t>Forecasting integrated</a:t>
            </a:r>
          </a:p>
          <a:p>
            <a:pPr marL="457200" lvl="1" indent="-381000">
              <a:buSzPts val="2400"/>
              <a:buFont typeface="Century Gothic"/>
              <a:buChar char="●"/>
            </a:pPr>
            <a:r>
              <a:rPr lang="en-US" sz="2000">
                <a:ea typeface="Calibri"/>
              </a:rPr>
              <a:t>Docker, K8s, Helm</a:t>
            </a:r>
          </a:p>
          <a:p>
            <a:pPr marL="457200" lvl="1" indent="-381000">
              <a:buSzPts val="2400"/>
              <a:buFont typeface="Century Gothic"/>
              <a:buChar char="●"/>
            </a:pPr>
            <a:r>
              <a:rPr lang="en-US" sz="2000">
                <a:ea typeface="Calibri"/>
              </a:rPr>
              <a:t>OIDC under review</a:t>
            </a:r>
          </a:p>
        </p:txBody>
      </p:sp>
      <p:sp>
        <p:nvSpPr>
          <p:cNvPr id="9" name="Google Shape;161;p6">
            <a:extLst>
              <a:ext uri="{FF2B5EF4-FFF2-40B4-BE49-F238E27FC236}">
                <a16:creationId xmlns:a16="http://schemas.microsoft.com/office/drawing/2014/main" id="{D5AD16C5-349A-CC83-6C89-BE75D18F95FA}"/>
              </a:ext>
            </a:extLst>
          </p:cNvPr>
          <p:cNvSpPr txBox="1">
            <a:spLocks/>
          </p:cNvSpPr>
          <p:nvPr/>
        </p:nvSpPr>
        <p:spPr>
          <a:xfrm>
            <a:off x="410553" y="303091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ADE"/>
              </a:buClr>
              <a:buSzPts val="3700"/>
              <a:buFont typeface="Century Gothic"/>
              <a:buNone/>
              <a:defRPr sz="3700" b="0" i="0" u="none" strike="noStrike" cap="none">
                <a:solidFill>
                  <a:srgbClr val="009AD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3100" b="1"/>
              <a:t>Pipeline Prototype</a:t>
            </a:r>
            <a:endParaRPr lang="en-US"/>
          </a:p>
          <a:p>
            <a:endParaRPr lang="de-DE" sz="2400" b="1"/>
          </a:p>
        </p:txBody>
      </p:sp>
    </p:spTree>
    <p:extLst>
      <p:ext uri="{BB962C8B-B14F-4D97-AF65-F5344CB8AC3E}">
        <p14:creationId xmlns:p14="http://schemas.microsoft.com/office/powerpoint/2010/main" val="2030987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47EAF-E24C-8DC6-F2E4-E205E1CA6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50" y="1344414"/>
            <a:ext cx="11360700" cy="757834"/>
          </a:xfrm>
        </p:spPr>
        <p:txBody>
          <a:bodyPr/>
          <a:lstStyle/>
          <a:p>
            <a:pPr marL="76200" indent="0">
              <a:buNone/>
            </a:pPr>
            <a:r>
              <a:rPr lang="de-DE" b="1"/>
              <a:t>Projects:</a:t>
            </a:r>
            <a:r>
              <a:rPr lang="de-DE"/>
              <a:t> SEGURO, HYPOWER, CRETE VALLEY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2C040-87FB-2515-F311-98DFC9A07D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CEE34-1317-55A1-6920-292A494FC6F0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EEF006-A2B3-1044-B92D-183036270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7915" y="313955"/>
            <a:ext cx="1845129" cy="196079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ECA8358-D9DE-5CFA-37D0-504E03905082}"/>
              </a:ext>
            </a:extLst>
          </p:cNvPr>
          <p:cNvSpPr txBox="1">
            <a:spLocks/>
          </p:cNvSpPr>
          <p:nvPr/>
        </p:nvSpPr>
        <p:spPr>
          <a:xfrm>
            <a:off x="415600" y="141461"/>
            <a:ext cx="8692718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ADE"/>
              </a:buClr>
              <a:buSzPts val="3700"/>
              <a:buFont typeface="Century Gothic"/>
              <a:buNone/>
              <a:defRPr sz="3700" b="0" i="0" u="none" strike="noStrike" cap="none">
                <a:solidFill>
                  <a:srgbClr val="009AD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de-DE"/>
              <a:t>Key Achievements in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past</a:t>
            </a:r>
            <a:r>
              <a:rPr lang="de-DE"/>
              <a:t> year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8DA3BD-1A25-B612-E2DC-7A6E6F73AA97}"/>
              </a:ext>
            </a:extLst>
          </p:cNvPr>
          <p:cNvSpPr txBox="1"/>
          <p:nvPr/>
        </p:nvSpPr>
        <p:spPr>
          <a:xfrm>
            <a:off x="598714" y="2059113"/>
            <a:ext cx="11420322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lr>
                <a:schemeClr val="dk1"/>
              </a:buClr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Century Gothic"/>
                <a:ea typeface="Calibri"/>
                <a:sym typeface="Century Gothic"/>
              </a:rPr>
              <a:t>New Release: v1.2.1 on Dec 2025</a:t>
            </a:r>
            <a:endParaRPr lang="en-US">
              <a:solidFill>
                <a:schemeClr val="dk1"/>
              </a:solidFill>
              <a:sym typeface="Century Gothic"/>
            </a:endParaRPr>
          </a:p>
          <a:p>
            <a:pPr>
              <a:buClr>
                <a:schemeClr val="dk1"/>
              </a:buClr>
            </a:pPr>
            <a:r>
              <a:rPr lang="en-US" sz="1800">
                <a:solidFill>
                  <a:schemeClr val="dk1"/>
                </a:solidFill>
                <a:latin typeface="Century Gothic"/>
                <a:ea typeface="Calibri"/>
                <a:sym typeface="Century Gothic"/>
              </a:rPr>
              <a:t>Available</a:t>
            </a:r>
            <a:r>
              <a:rPr lang="en-US" sz="1800">
                <a:solidFill>
                  <a:schemeClr val="dk1"/>
                </a:solidFill>
                <a:latin typeface="Century Gothic"/>
                <a:ea typeface="Calibri"/>
              </a:rPr>
              <a:t> for Linux in </a:t>
            </a:r>
            <a:r>
              <a:rPr lang="en-US" sz="1800" err="1">
                <a:solidFill>
                  <a:schemeClr val="dk1"/>
                </a:solidFill>
                <a:latin typeface="Century Gothic"/>
                <a:ea typeface="Calibri"/>
              </a:rPr>
              <a:t>PyPI</a:t>
            </a:r>
            <a:r>
              <a:rPr lang="en-US" sz="1800">
                <a:solidFill>
                  <a:schemeClr val="dk1"/>
                </a:solidFill>
                <a:latin typeface="Century Gothic"/>
                <a:ea typeface="Calibri"/>
              </a:rPr>
              <a:t> and from source in </a:t>
            </a:r>
            <a:r>
              <a:rPr lang="en-US" sz="1800" err="1">
                <a:solidFill>
                  <a:schemeClr val="dk1"/>
                </a:solidFill>
                <a:latin typeface="Century Gothic"/>
                <a:ea typeface="Calibri"/>
              </a:rPr>
              <a:t>Github</a:t>
            </a:r>
            <a:endParaRPr lang="en-US" err="1">
              <a:solidFill>
                <a:schemeClr val="dk1"/>
              </a:solidFill>
            </a:endParaRPr>
          </a:p>
          <a:p>
            <a:pPr marL="285750" indent="-285750">
              <a:buClr>
                <a:schemeClr val="dk1"/>
              </a:buClr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Century Gothic"/>
                <a:ea typeface="Calibri"/>
                <a:sym typeface="Century Gothic"/>
              </a:rPr>
              <a:t>Simulation Models</a:t>
            </a:r>
            <a:endParaRPr lang="en-US" sz="1800" b="1">
              <a:solidFill>
                <a:schemeClr val="dk1"/>
              </a:solidFill>
              <a:latin typeface="Century Gothic"/>
              <a:ea typeface="Calibri"/>
            </a:endParaRPr>
          </a:p>
          <a:p>
            <a:pPr>
              <a:buClr>
                <a:schemeClr val="dk1"/>
              </a:buClr>
            </a:pPr>
            <a:r>
              <a:rPr lang="en-US" sz="1800">
                <a:solidFill>
                  <a:schemeClr val="dk1"/>
                </a:solidFill>
                <a:latin typeface="Century Gothic"/>
                <a:ea typeface="Calibri"/>
                <a:sym typeface="Century Gothic"/>
              </a:rPr>
              <a:t>State-Space-Nodal  component models added, Ph1 and Ph3 line models for </a:t>
            </a:r>
            <a:r>
              <a:rPr lang="en-US" sz="1800" err="1">
                <a:solidFill>
                  <a:schemeClr val="dk1"/>
                </a:solidFill>
                <a:latin typeface="Century Gothic"/>
                <a:ea typeface="Calibri"/>
                <a:sym typeface="Century Gothic"/>
              </a:rPr>
              <a:t>Diakoptics</a:t>
            </a:r>
            <a:endParaRPr lang="en-US" sz="1800" err="1">
              <a:solidFill>
                <a:schemeClr val="dk1"/>
              </a:solidFill>
              <a:latin typeface="Century Gothic"/>
              <a:ea typeface="Calibri"/>
            </a:endParaRPr>
          </a:p>
          <a:p>
            <a:pPr marL="285750" indent="-285750">
              <a:buClr>
                <a:schemeClr val="dk1"/>
              </a:buClr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Century Gothic"/>
                <a:ea typeface="Calibri"/>
                <a:sym typeface="Century Gothic"/>
              </a:rPr>
              <a:t>Real-Time &amp; VILLAS Enhancements</a:t>
            </a:r>
            <a:r>
              <a:rPr lang="en-US" sz="1800">
                <a:solidFill>
                  <a:schemeClr val="dk1"/>
                </a:solidFill>
                <a:latin typeface="Century Gothic"/>
                <a:ea typeface="Calibri"/>
                <a:sym typeface="Century Gothic"/>
              </a:rPr>
              <a:t> </a:t>
            </a:r>
            <a:endParaRPr lang="en-US" sz="1800">
              <a:solidFill>
                <a:schemeClr val="dk1"/>
              </a:solidFill>
              <a:latin typeface="Century Gothic"/>
              <a:ea typeface="Calibri"/>
            </a:endParaRPr>
          </a:p>
          <a:p>
            <a:pPr>
              <a:buClr>
                <a:schemeClr val="dk1"/>
              </a:buClr>
            </a:pPr>
            <a:r>
              <a:rPr lang="en-US" sz="1800">
                <a:solidFill>
                  <a:schemeClr val="dk1"/>
                </a:solidFill>
                <a:latin typeface="Century Gothic"/>
                <a:ea typeface="Calibri"/>
              </a:rPr>
              <a:t>Decoupling line EMT models for co-simulation</a:t>
            </a:r>
          </a:p>
          <a:p>
            <a:pPr marL="285750" indent="-285750">
              <a:buClr>
                <a:schemeClr val="dk1"/>
              </a:buClr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Century Gothic"/>
                <a:ea typeface="Calibri"/>
                <a:sym typeface="Century Gothic"/>
              </a:rPr>
              <a:t>Workflow &amp; CI/CD Upgrades</a:t>
            </a:r>
            <a:endParaRPr lang="en-US" sz="1800" b="1">
              <a:solidFill>
                <a:schemeClr val="dk1"/>
              </a:solidFill>
              <a:latin typeface="Century Gothic"/>
              <a:ea typeface="Calibri"/>
            </a:endParaRPr>
          </a:p>
          <a:p>
            <a:pPr>
              <a:buClr>
                <a:schemeClr val="dk1"/>
              </a:buClr>
            </a:pPr>
            <a:r>
              <a:rPr lang="en-US" sz="1800">
                <a:solidFill>
                  <a:schemeClr val="dk1"/>
                </a:solidFill>
                <a:latin typeface="Century Gothic"/>
                <a:ea typeface="Calibri"/>
                <a:sym typeface="Century Gothic"/>
              </a:rPr>
              <a:t>Improvements in </a:t>
            </a:r>
            <a:r>
              <a:rPr lang="en-US" sz="1800" err="1">
                <a:solidFill>
                  <a:schemeClr val="dk1"/>
                </a:solidFill>
                <a:latin typeface="Century Gothic"/>
                <a:ea typeface="Calibri"/>
                <a:sym typeface="Century Gothic"/>
              </a:rPr>
              <a:t>PyPI</a:t>
            </a:r>
            <a:r>
              <a:rPr lang="en-US" sz="1800">
                <a:solidFill>
                  <a:schemeClr val="dk1"/>
                </a:solidFill>
                <a:latin typeface="Century Gothic"/>
                <a:ea typeface="Calibri"/>
                <a:sym typeface="Century Gothic"/>
              </a:rPr>
              <a:t> publishing, addition of nix build and optimization of container builds. </a:t>
            </a:r>
            <a:endParaRPr lang="en-US" sz="1800">
              <a:solidFill>
                <a:schemeClr val="dk1"/>
              </a:solidFill>
              <a:latin typeface="Century Gothic"/>
              <a:ea typeface="Calibri"/>
            </a:endParaRPr>
          </a:p>
          <a:p>
            <a:pPr marL="285750" indent="-285750">
              <a:buClr>
                <a:schemeClr val="dk1"/>
              </a:buClr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Century Gothic"/>
                <a:ea typeface="Calibri"/>
                <a:sym typeface="Century Gothic"/>
              </a:rPr>
              <a:t>Testing &amp; Examples</a:t>
            </a:r>
            <a:endParaRPr lang="en-US" sz="1800" b="1">
              <a:solidFill>
                <a:schemeClr val="dk1"/>
              </a:solidFill>
              <a:latin typeface="Century Gothic"/>
              <a:ea typeface="Calibri"/>
            </a:endParaRPr>
          </a:p>
          <a:p>
            <a:pPr>
              <a:buClr>
                <a:schemeClr val="dk1"/>
              </a:buClr>
            </a:pPr>
            <a:r>
              <a:rPr lang="en-US" sz="1800">
                <a:solidFill>
                  <a:schemeClr val="dk1"/>
                </a:solidFill>
                <a:latin typeface="Century Gothic"/>
                <a:ea typeface="Calibri"/>
              </a:rPr>
              <a:t>Easy access for user tests with </a:t>
            </a:r>
            <a:r>
              <a:rPr lang="en-US" sz="1800" err="1">
                <a:solidFill>
                  <a:schemeClr val="dk1"/>
                </a:solidFill>
                <a:latin typeface="Century Gothic"/>
                <a:ea typeface="Calibri"/>
              </a:rPr>
              <a:t>myBinder</a:t>
            </a:r>
            <a:r>
              <a:rPr lang="en-US" sz="1800">
                <a:solidFill>
                  <a:schemeClr val="dk1"/>
                </a:solidFill>
                <a:latin typeface="Century Gothic"/>
                <a:ea typeface="Calibri"/>
              </a:rPr>
              <a:t> including </a:t>
            </a:r>
            <a:r>
              <a:rPr lang="en-US" sz="1800" err="1">
                <a:solidFill>
                  <a:schemeClr val="dk1"/>
                </a:solidFill>
                <a:latin typeface="Century Gothic"/>
                <a:ea typeface="Calibri"/>
              </a:rPr>
              <a:t>VILLASnode</a:t>
            </a:r>
            <a:r>
              <a:rPr lang="en-US" sz="1800">
                <a:solidFill>
                  <a:schemeClr val="dk1"/>
                </a:solidFill>
                <a:latin typeface="Century Gothic"/>
                <a:ea typeface="Calibri"/>
              </a:rPr>
              <a:t> support (badge in the landing page of the repository), example Notebooks updated for new models.</a:t>
            </a:r>
          </a:p>
          <a:p>
            <a:pPr marL="285750" indent="-285750">
              <a:buClr>
                <a:schemeClr val="dk1"/>
              </a:buClr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Century Gothic"/>
                <a:ea typeface="Calibri"/>
                <a:sym typeface="Century Gothic"/>
              </a:rPr>
              <a:t>Code Quality &amp; Maintenance</a:t>
            </a:r>
            <a:endParaRPr lang="en-US" sz="1800" b="1">
              <a:solidFill>
                <a:schemeClr val="dk1"/>
              </a:solidFill>
              <a:latin typeface="Century Gothic"/>
              <a:ea typeface="Calibri"/>
            </a:endParaRPr>
          </a:p>
          <a:p>
            <a:pPr>
              <a:buClr>
                <a:schemeClr val="dk1"/>
              </a:buClr>
            </a:pPr>
            <a:r>
              <a:rPr lang="en-US" sz="1800">
                <a:solidFill>
                  <a:schemeClr val="dk1"/>
                </a:solidFill>
                <a:latin typeface="Century Gothic"/>
                <a:ea typeface="Calibri"/>
              </a:rPr>
              <a:t>Coverage testing added, workflow tests with pre-commit, documentation updates.</a:t>
            </a:r>
          </a:p>
          <a:p>
            <a:pPr marL="285750" indent="-285750">
              <a:buFont typeface="Arial,Sans-Serif"/>
              <a:buChar char="•"/>
            </a:pPr>
            <a:r>
              <a:rPr lang="en-US" sz="1800" b="1">
                <a:solidFill>
                  <a:schemeClr val="dk1"/>
                </a:solidFill>
                <a:latin typeface="Century Gothic"/>
                <a:ea typeface="Calibri"/>
              </a:rPr>
              <a:t>Security Aspects</a:t>
            </a:r>
          </a:p>
          <a:p>
            <a:r>
              <a:rPr lang="en-US" sz="1800">
                <a:solidFill>
                  <a:schemeClr val="dk1"/>
                </a:solidFill>
                <a:latin typeface="Century Gothic"/>
                <a:ea typeface="Calibri"/>
              </a:rPr>
              <a:t>Trusted publisher added to </a:t>
            </a:r>
            <a:r>
              <a:rPr lang="en-US" sz="1800" err="1">
                <a:solidFill>
                  <a:schemeClr val="dk1"/>
                </a:solidFill>
                <a:latin typeface="Century Gothic"/>
                <a:ea typeface="Calibri"/>
              </a:rPr>
              <a:t>PyPI</a:t>
            </a:r>
            <a:r>
              <a:rPr lang="en-US" sz="1800">
                <a:solidFill>
                  <a:schemeClr val="dk1"/>
                </a:solidFill>
                <a:latin typeface="Century Gothic"/>
                <a:ea typeface="Calibri"/>
              </a:rPr>
              <a:t> and </a:t>
            </a:r>
            <a:r>
              <a:rPr lang="en-US" sz="1800" err="1">
                <a:solidFill>
                  <a:schemeClr val="dk1"/>
                </a:solidFill>
                <a:latin typeface="Century Gothic"/>
                <a:ea typeface="Calibri"/>
              </a:rPr>
              <a:t>TestPyPI</a:t>
            </a:r>
            <a:r>
              <a:rPr lang="en-US" sz="1800">
                <a:solidFill>
                  <a:schemeClr val="dk1"/>
                </a:solidFill>
                <a:latin typeface="Century Gothic"/>
                <a:ea typeface="Calibri"/>
              </a:rPr>
              <a:t>. Progressive dependence upgrades. </a:t>
            </a:r>
            <a:endParaRPr lang="en-US">
              <a:solidFill>
                <a:schemeClr val="dk1"/>
              </a:solidFill>
            </a:endParaRPr>
          </a:p>
          <a:p>
            <a:endParaRPr lang="en-US" sz="1800">
              <a:solidFill>
                <a:schemeClr val="dk1"/>
              </a:solidFill>
              <a:latin typeface="Century Gothic"/>
              <a:ea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C544FC-B0BC-583F-2F1C-115CDBECF7A5}"/>
              </a:ext>
            </a:extLst>
          </p:cNvPr>
          <p:cNvSpPr txBox="1"/>
          <p:nvPr/>
        </p:nvSpPr>
        <p:spPr>
          <a:xfrm>
            <a:off x="594139" y="1113971"/>
            <a:ext cx="2743200" cy="3541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987"/>
              </a:lnSpc>
            </a:pPr>
            <a:r>
              <a:rPr lang="de-DE" sz="2400" b="1" err="1">
                <a:solidFill>
                  <a:srgbClr val="009ADE"/>
                </a:solidFill>
                <a:latin typeface="Century Gothic"/>
              </a:rPr>
              <a:t>DPsim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904102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9575C-4363-E454-E769-D94854372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BDAE4-91F9-FB3B-2B2C-FEDF90F65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760" y="1719233"/>
            <a:ext cx="5046987" cy="3607839"/>
          </a:xfrm>
        </p:spPr>
        <p:txBody>
          <a:bodyPr/>
          <a:lstStyle/>
          <a:p>
            <a:r>
              <a:rPr lang="en-US" sz="2000">
                <a:ea typeface="Calibri"/>
              </a:rPr>
              <a:t>Prototype</a:t>
            </a:r>
          </a:p>
          <a:p>
            <a:pPr lvl="1">
              <a:buSzPts val="2400"/>
              <a:buFont typeface="Courier New"/>
              <a:buChar char="o"/>
            </a:pPr>
            <a:r>
              <a:rPr lang="en-US">
                <a:solidFill>
                  <a:srgbClr val="000000"/>
                </a:solidFill>
                <a:ea typeface="Calibri"/>
              </a:rPr>
              <a:t>Unified way of data and task exchange</a:t>
            </a:r>
          </a:p>
          <a:p>
            <a:pPr lvl="1">
              <a:buFont typeface="Courier New"/>
              <a:buChar char="o"/>
            </a:pPr>
            <a:r>
              <a:rPr lang="en-US">
                <a:solidFill>
                  <a:srgbClr val="000000"/>
                </a:solidFill>
                <a:ea typeface="Calibri"/>
              </a:rPr>
              <a:t>Expect to tie disparate SOGNO services together</a:t>
            </a:r>
          </a:p>
          <a:p>
            <a:r>
              <a:rPr lang="en-US" sz="1800"/>
              <a:t>Workers are always available</a:t>
            </a:r>
          </a:p>
          <a:p>
            <a:r>
              <a:rPr lang="en-US" sz="1800"/>
              <a:t>Central data storage</a:t>
            </a:r>
            <a:endParaRPr lang="en-US" sz="1800">
              <a:effectLst/>
            </a:endParaRPr>
          </a:p>
          <a:p>
            <a:r>
              <a:rPr lang="en-US" sz="1800"/>
              <a:t>Both data and tasks come via Kafka</a:t>
            </a:r>
          </a:p>
          <a:p>
            <a:r>
              <a:rPr lang="en-US" sz="1800"/>
              <a:t>Services request missing data, </a:t>
            </a:r>
          </a:p>
          <a:p>
            <a:pPr marL="76200" indent="0">
              <a:buNone/>
            </a:pPr>
            <a:r>
              <a:rPr lang="en-US" sz="1800"/>
              <a:t> Providers fulfil requests autonomously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4E954-28F9-54DB-223B-118757419D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C39B16-F5AD-687A-43AC-8D4230D2B9D0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6F6E813-A8ED-976D-C246-2C14F4D64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82975"/>
            <a:ext cx="8692718" cy="763500"/>
          </a:xfrm>
        </p:spPr>
        <p:txBody>
          <a:bodyPr/>
          <a:lstStyle/>
          <a:p>
            <a:r>
              <a:rPr lang="de-DE"/>
              <a:t>Key Achievements in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past</a:t>
            </a:r>
            <a:r>
              <a:rPr lang="de-DE"/>
              <a:t> </a:t>
            </a:r>
            <a:r>
              <a:rPr lang="de-DE" err="1"/>
              <a:t>year</a:t>
            </a:r>
            <a:endParaRPr lang="de-DE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39DD63-2F99-1C38-4CF0-19EFD50B8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481" y="1896273"/>
            <a:ext cx="7277759" cy="3085055"/>
          </a:xfrm>
          <a:prstGeom prst="rect">
            <a:avLst/>
          </a:prstGeom>
        </p:spPr>
      </p:pic>
      <p:sp>
        <p:nvSpPr>
          <p:cNvPr id="7" name="Google Shape;161;p6">
            <a:extLst>
              <a:ext uri="{FF2B5EF4-FFF2-40B4-BE49-F238E27FC236}">
                <a16:creationId xmlns:a16="http://schemas.microsoft.com/office/drawing/2014/main" id="{2045189C-32C3-E5E5-26FC-FF5AFC5267BE}"/>
              </a:ext>
            </a:extLst>
          </p:cNvPr>
          <p:cNvSpPr txBox="1">
            <a:spLocks/>
          </p:cNvSpPr>
          <p:nvPr/>
        </p:nvSpPr>
        <p:spPr>
          <a:xfrm>
            <a:off x="251622" y="113381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ADE"/>
              </a:buClr>
              <a:buSzPts val="3700"/>
              <a:buFont typeface="Century Gothic"/>
              <a:buNone/>
              <a:defRPr sz="3700" b="0" i="0" u="none" strike="noStrike" cap="none">
                <a:solidFill>
                  <a:srgbClr val="009AD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/>
              <a:t>Continuing adapting the data</a:t>
            </a:r>
            <a:r>
              <a:rPr lang="de-DE" sz="2400" b="1"/>
              <a:t> Architecture (Prototype)</a:t>
            </a:r>
            <a:endParaRPr lang="de-DE" sz="24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276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32669-7AD3-2EF5-61F0-1DD7A1B8A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F88DF8-7F8E-88AE-CCD8-119813AEF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840894"/>
            <a:ext cx="11360700" cy="4709808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en-US" b="1" dirty="0" err="1">
                <a:solidFill>
                  <a:srgbClr val="000000"/>
                </a:solidFill>
              </a:rPr>
              <a:t>InterSCADA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(EU project)</a:t>
            </a:r>
            <a:endParaRPr lang="en-US" dirty="0">
              <a:solidFill>
                <a:srgbClr val="FF0000"/>
              </a:solidFill>
            </a:endParaRPr>
          </a:p>
          <a:p>
            <a:pPr lvl="1">
              <a:buSzPts val="2400"/>
              <a:buFont typeface="Courier New"/>
              <a:buChar char="o"/>
            </a:pPr>
            <a:r>
              <a:rPr lang="en-US">
                <a:solidFill>
                  <a:srgbClr val="000000"/>
                </a:solidFill>
              </a:rPr>
              <a:t>Develop an open-source software framework for modular SCADA platform.</a:t>
            </a:r>
          </a:p>
          <a:p>
            <a:pPr lvl="2">
              <a:buSzPts val="2400"/>
              <a:buFont typeface="Wingdings"/>
              <a:buChar char="§"/>
            </a:pPr>
            <a:r>
              <a:rPr lang="en-US">
                <a:solidFill>
                  <a:schemeClr val="tx1"/>
                </a:solidFill>
              </a:rPr>
              <a:t>Checking orchestration mechanism to onboard new microservices. Discussing licensing. There are currently 9 functional microservices.</a:t>
            </a:r>
            <a:endParaRPr lang="en-US">
              <a:solidFill>
                <a:srgbClr val="000000"/>
              </a:solidFill>
            </a:endParaRPr>
          </a:p>
          <a:p>
            <a:pPr lvl="1">
              <a:buSzPts val="2400"/>
              <a:buFont typeface="Courier New"/>
              <a:buChar char="o"/>
            </a:pPr>
            <a:r>
              <a:rPr lang="en-US" dirty="0">
                <a:solidFill>
                  <a:srgbClr val="000000"/>
                </a:solidFill>
              </a:rPr>
              <a:t>Help grid operators maintain system stability in increasingly hybrid AC/DC power grids</a:t>
            </a:r>
          </a:p>
          <a:p>
            <a:pPr indent="-342900">
              <a:buSzPts val="1900"/>
              <a:buFont typeface="Arial"/>
              <a:buChar char="•"/>
            </a:pPr>
            <a:r>
              <a:rPr lang="en-US" b="1" dirty="0" err="1">
                <a:solidFill>
                  <a:schemeClr val="tx1"/>
                </a:solidFill>
              </a:rPr>
              <a:t>OpenEnergyTwin</a:t>
            </a:r>
            <a:r>
              <a:rPr lang="en-US" dirty="0">
                <a:solidFill>
                  <a:srgbClr val="000000"/>
                </a:solidFill>
              </a:rPr>
              <a:t> (OFFIS, RWTH, and Fraunhofer):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rgbClr val="000000"/>
                </a:solidFill>
              </a:rPr>
              <a:t>Integrated </a:t>
            </a:r>
            <a:r>
              <a:rPr lang="en-US" dirty="0" err="1">
                <a:solidFill>
                  <a:srgbClr val="000000"/>
                </a:solidFill>
              </a:rPr>
              <a:t>Proloaf</a:t>
            </a:r>
            <a:r>
              <a:rPr lang="en-US" dirty="0">
                <a:solidFill>
                  <a:srgbClr val="000000"/>
                </a:solidFill>
              </a:rPr>
              <a:t> into OET platform.</a:t>
            </a:r>
          </a:p>
          <a:p>
            <a:pPr lvl="1"/>
            <a:r>
              <a:rPr lang="en-US">
                <a:solidFill>
                  <a:srgbClr val="000000"/>
                </a:solidFill>
              </a:rPr>
              <a:t>Advance GUI for visualization of high and low voltage scenario.</a:t>
            </a:r>
          </a:p>
          <a:p>
            <a:pPr lvl="1"/>
            <a:r>
              <a:rPr lang="en-US">
                <a:solidFill>
                  <a:srgbClr val="000000"/>
                </a:solidFill>
              </a:rPr>
              <a:t>Project Phase 1 successfully delivered.</a:t>
            </a:r>
          </a:p>
          <a:p>
            <a:pPr lvl="1"/>
            <a:r>
              <a:rPr lang="en-US">
                <a:solidFill>
                  <a:srgbClr val="000000"/>
                </a:solidFill>
              </a:rPr>
              <a:t>Preparation for Phase 2.</a:t>
            </a:r>
          </a:p>
          <a:p>
            <a:pPr lvl="1"/>
            <a:r>
              <a:rPr lang="en-US">
                <a:solidFill>
                  <a:srgbClr val="000000"/>
                </a:solidFill>
              </a:rPr>
              <a:t>OET results to be used to enhance SOGNO core</a:t>
            </a:r>
          </a:p>
          <a:p>
            <a:pPr indent="-342900">
              <a:buSzPts val="1900"/>
              <a:buFont typeface="Arial"/>
              <a:buChar char="•"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D7449-2D5E-CA01-3E76-CC0FD2BFDD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55FB5D-4E93-E262-F4DF-7F6791F1FAE9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8623FA8-7F0E-9B04-B898-44BFE7BC8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106279"/>
            <a:ext cx="8692718" cy="741414"/>
          </a:xfrm>
        </p:spPr>
        <p:txBody>
          <a:bodyPr/>
          <a:lstStyle/>
          <a:p>
            <a:r>
              <a:rPr lang="de-DE"/>
              <a:t>Key Achievements in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past</a:t>
            </a:r>
            <a:r>
              <a:rPr lang="de-DE"/>
              <a:t> </a:t>
            </a:r>
            <a:r>
              <a:rPr lang="de-DE" err="1"/>
              <a:t>year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4627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40E61-8110-F9DF-0444-329B778CA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5547"/>
            <a:ext cx="11776400" cy="4556285"/>
          </a:xfrm>
        </p:spPr>
        <p:txBody>
          <a:bodyPr/>
          <a:lstStyle/>
          <a:p>
            <a:pPr algn="just"/>
            <a:r>
              <a:rPr lang="en-US" sz="1800"/>
              <a:t>The human-machine interface auto-drawing topological data and visualizing key live parameter</a:t>
            </a:r>
            <a:endParaRPr lang="de-DE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D490B-9C1B-2F38-D734-53ED918795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AB84C9-6BCF-3916-0C7A-F374FC916A1B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A76A38-BE66-6385-0DFF-8CBDED00C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521" y="2126411"/>
            <a:ext cx="7773712" cy="430530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8D46B3B-0732-43EC-493B-090CB3037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82975"/>
            <a:ext cx="8692718" cy="763500"/>
          </a:xfrm>
        </p:spPr>
        <p:txBody>
          <a:bodyPr/>
          <a:lstStyle/>
          <a:p>
            <a:r>
              <a:rPr lang="de-DE"/>
              <a:t>Key Achievements in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past</a:t>
            </a:r>
            <a:r>
              <a:rPr lang="de-DE"/>
              <a:t> </a:t>
            </a:r>
            <a:r>
              <a:rPr lang="de-DE" err="1"/>
              <a:t>year</a:t>
            </a:r>
            <a:endParaRPr lang="de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2132C9-8983-7AFA-3366-94486D03AA49}"/>
              </a:ext>
            </a:extLst>
          </p:cNvPr>
          <p:cNvSpPr txBox="1"/>
          <p:nvPr/>
        </p:nvSpPr>
        <p:spPr>
          <a:xfrm>
            <a:off x="594138" y="1113971"/>
            <a:ext cx="5983643" cy="3541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987"/>
              </a:lnSpc>
            </a:pPr>
            <a:r>
              <a:rPr lang="de-DE" sz="2400" b="1" err="1">
                <a:solidFill>
                  <a:srgbClr val="009ADE"/>
                </a:solidFill>
                <a:latin typeface="Century Gothic"/>
              </a:rPr>
              <a:t>OpenEnergyTwin</a:t>
            </a:r>
            <a:r>
              <a:rPr lang="de-DE" sz="2400" b="1">
                <a:solidFill>
                  <a:srgbClr val="009ADE"/>
                </a:solidFill>
                <a:latin typeface="Century Gothic"/>
              </a:rPr>
              <a:t> (OET) – Phase 1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84564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7CCB6-039A-7386-3A05-F0F479F04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37509-1F9E-6E66-257C-C895078C6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5547"/>
            <a:ext cx="11776400" cy="4556285"/>
          </a:xfrm>
        </p:spPr>
        <p:txBody>
          <a:bodyPr/>
          <a:lstStyle/>
          <a:p>
            <a:pPr algn="just"/>
            <a:r>
              <a:rPr lang="en-US" sz="1800"/>
              <a:t>The human-machine interface auto-drawing topological data and visualizing key live parameter</a:t>
            </a:r>
            <a:endParaRPr lang="de-DE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41BFD-0FAF-76BB-F288-C0DCDF7B26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2C48D2-6D8F-D425-FEF2-BC0527D7650E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FFB438D-6182-009B-DB85-E92B39187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82975"/>
            <a:ext cx="8692718" cy="763500"/>
          </a:xfrm>
        </p:spPr>
        <p:txBody>
          <a:bodyPr/>
          <a:lstStyle/>
          <a:p>
            <a:r>
              <a:rPr lang="de-DE"/>
              <a:t>Key Achievements in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past</a:t>
            </a:r>
            <a:r>
              <a:rPr lang="de-DE"/>
              <a:t> </a:t>
            </a:r>
            <a:r>
              <a:rPr lang="de-DE" err="1"/>
              <a:t>year</a:t>
            </a:r>
            <a:endParaRPr lang="de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EC150D-DB31-27AF-A631-5C88708F8718}"/>
              </a:ext>
            </a:extLst>
          </p:cNvPr>
          <p:cNvSpPr txBox="1"/>
          <p:nvPr/>
        </p:nvSpPr>
        <p:spPr>
          <a:xfrm>
            <a:off x="594138" y="1113971"/>
            <a:ext cx="5983643" cy="3541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987"/>
              </a:lnSpc>
            </a:pPr>
            <a:r>
              <a:rPr lang="de-DE" sz="2400" b="1" err="1">
                <a:solidFill>
                  <a:srgbClr val="009ADE"/>
                </a:solidFill>
                <a:latin typeface="Century Gothic"/>
              </a:rPr>
              <a:t>OpenEnergyTwin</a:t>
            </a:r>
            <a:r>
              <a:rPr lang="de-DE" sz="2400" b="1">
                <a:solidFill>
                  <a:srgbClr val="009ADE"/>
                </a:solidFill>
                <a:latin typeface="Century Gothic"/>
              </a:rPr>
              <a:t> (OET) – Phase 1</a:t>
            </a:r>
            <a:endParaRPr lang="en-US" sz="24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E808D1D-E22A-2D3B-ACB6-BCE931683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915" y="2076964"/>
            <a:ext cx="8202170" cy="387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4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1BAE2-3AD8-0499-1894-88A08CBEC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BDC958-32AE-B1FD-A210-CA571D5BB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180" y="3061635"/>
            <a:ext cx="10301952" cy="3152351"/>
          </a:xfrm>
        </p:spPr>
        <p:txBody>
          <a:bodyPr/>
          <a:lstStyle/>
          <a:p>
            <a:r>
              <a:rPr lang="en-US" sz="2000">
                <a:solidFill>
                  <a:schemeClr val="tx1"/>
                </a:solidFill>
                <a:ea typeface="Calibri"/>
              </a:rPr>
              <a:t>Understanding core blockers in current SOGNO architecture.</a:t>
            </a:r>
          </a:p>
          <a:p>
            <a:r>
              <a:rPr lang="en-US" sz="2000">
                <a:solidFill>
                  <a:schemeClr val="tx1"/>
                </a:solidFill>
                <a:ea typeface="Calibri"/>
              </a:rPr>
              <a:t>Reviewing OET architecture for systematic integration and usage of the OET core and GUI.</a:t>
            </a:r>
          </a:p>
          <a:p>
            <a:r>
              <a:rPr lang="en-US" sz="2000">
                <a:solidFill>
                  <a:schemeClr val="tx1"/>
                </a:solidFill>
                <a:ea typeface="Calibri"/>
              </a:rPr>
              <a:t>Identifying problems related to overlapping platform (OET &amp; SOGNO)</a:t>
            </a:r>
          </a:p>
          <a:p>
            <a:pPr lvl="1"/>
            <a:r>
              <a:rPr lang="en-US" sz="1600">
                <a:solidFill>
                  <a:schemeClr val="tx1"/>
                </a:solidFill>
                <a:ea typeface="Calibri"/>
              </a:rPr>
              <a:t>Duplicated effort</a:t>
            </a:r>
          </a:p>
          <a:p>
            <a:pPr lvl="1"/>
            <a:r>
              <a:rPr lang="en-US" sz="1600">
                <a:solidFill>
                  <a:schemeClr val="tx1"/>
                </a:solidFill>
                <a:ea typeface="Calibri"/>
              </a:rPr>
              <a:t>Integration problems</a:t>
            </a:r>
          </a:p>
          <a:p>
            <a:pPr lvl="1"/>
            <a:r>
              <a:rPr lang="en-US" sz="1600">
                <a:solidFill>
                  <a:schemeClr val="tx1"/>
                </a:solidFill>
                <a:ea typeface="Calibri"/>
              </a:rPr>
              <a:t>Unclear Direction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84FEF-1279-05E1-1B5A-22C79E852D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3A2393-E0C9-4931-9180-94FF9304F229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36EFB83-00A6-6DDF-C687-8FA506A3C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82975"/>
            <a:ext cx="8692718" cy="763500"/>
          </a:xfrm>
        </p:spPr>
        <p:txBody>
          <a:bodyPr/>
          <a:lstStyle/>
          <a:p>
            <a:r>
              <a:rPr lang="de-DE"/>
              <a:t>Key Achievements in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past</a:t>
            </a:r>
            <a:r>
              <a:rPr lang="de-DE"/>
              <a:t> </a:t>
            </a:r>
            <a:r>
              <a:rPr lang="de-DE" err="1"/>
              <a:t>year</a:t>
            </a:r>
            <a:endParaRPr lang="de-DE"/>
          </a:p>
        </p:txBody>
      </p:sp>
      <p:sp>
        <p:nvSpPr>
          <p:cNvPr id="7" name="Google Shape;161;p6">
            <a:extLst>
              <a:ext uri="{FF2B5EF4-FFF2-40B4-BE49-F238E27FC236}">
                <a16:creationId xmlns:a16="http://schemas.microsoft.com/office/drawing/2014/main" id="{E9291344-D387-CA4E-6A32-369620C31D8F}"/>
              </a:ext>
            </a:extLst>
          </p:cNvPr>
          <p:cNvSpPr txBox="1">
            <a:spLocks/>
          </p:cNvSpPr>
          <p:nvPr/>
        </p:nvSpPr>
        <p:spPr>
          <a:xfrm>
            <a:off x="500889" y="250209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ADE"/>
              </a:buClr>
              <a:buSzPts val="3700"/>
              <a:buFont typeface="Century Gothic"/>
              <a:buNone/>
              <a:defRPr sz="3700" b="0" i="0" u="none" strike="noStrike" cap="none">
                <a:solidFill>
                  <a:srgbClr val="009AD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de-DE" sz="2400" b="1"/>
              <a:t>Workshops </a:t>
            </a:r>
            <a:r>
              <a:rPr lang="de-DE" sz="2400" b="1" err="1"/>
              <a:t>Objectives</a:t>
            </a:r>
            <a:endParaRPr lang="de-DE" sz="2400" b="1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1F11CD3-6EB4-7FCC-34A9-B028EF0BF4A5}"/>
              </a:ext>
            </a:extLst>
          </p:cNvPr>
          <p:cNvSpPr txBox="1">
            <a:spLocks/>
          </p:cNvSpPr>
          <p:nvPr/>
        </p:nvSpPr>
        <p:spPr>
          <a:xfrm>
            <a:off x="497970" y="1712122"/>
            <a:ext cx="9771866" cy="771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25" tIns="122025" rIns="122025" bIns="1220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Gothic"/>
              <a:buChar char="●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Char char="○"/>
              <a:defRPr sz="1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Char char="■"/>
              <a:defRPr sz="1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Char char="●"/>
              <a:defRPr sz="1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Char char="○"/>
              <a:defRPr sz="1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Char char="■"/>
              <a:defRPr sz="1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Char char="●"/>
              <a:defRPr sz="1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entury Gothic"/>
              <a:buChar char="○"/>
              <a:defRPr sz="1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9250" algn="l" rtl="0">
              <a:lnSpc>
                <a:spcPct val="150000"/>
              </a:lnSpc>
              <a:spcBef>
                <a:spcPts val="0"/>
              </a:spcBef>
              <a:spcAft>
                <a:spcPts val="2100"/>
              </a:spcAft>
              <a:buClr>
                <a:schemeClr val="dk1"/>
              </a:buClr>
              <a:buSzPts val="1900"/>
              <a:buFont typeface="Century Gothic"/>
              <a:buChar char="■"/>
              <a:defRPr sz="1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r>
              <a:rPr lang="en-US" sz="2000">
                <a:solidFill>
                  <a:srgbClr val="000000"/>
                </a:solidFill>
                <a:ea typeface="Calibri"/>
                <a:cs typeface="Times New Roman"/>
              </a:rPr>
              <a:t>A target picture for modular control systems development in Aachen</a:t>
            </a:r>
          </a:p>
        </p:txBody>
      </p:sp>
      <p:sp>
        <p:nvSpPr>
          <p:cNvPr id="41" name="Google Shape;161;p6">
            <a:extLst>
              <a:ext uri="{FF2B5EF4-FFF2-40B4-BE49-F238E27FC236}">
                <a16:creationId xmlns:a16="http://schemas.microsoft.com/office/drawing/2014/main" id="{61727568-B7CB-3523-99DC-936C2843078B}"/>
              </a:ext>
            </a:extLst>
          </p:cNvPr>
          <p:cNvSpPr txBox="1">
            <a:spLocks/>
          </p:cNvSpPr>
          <p:nvPr/>
        </p:nvSpPr>
        <p:spPr>
          <a:xfrm>
            <a:off x="500889" y="136461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ADE"/>
              </a:buClr>
              <a:buSzPts val="3700"/>
              <a:buFont typeface="Century Gothic"/>
              <a:buNone/>
              <a:defRPr sz="3700" b="0" i="0" u="none" strike="noStrike" cap="none">
                <a:solidFill>
                  <a:srgbClr val="009AD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de-DE" sz="2400" b="1"/>
              <a:t>Workshops in ACS and FIT</a:t>
            </a:r>
          </a:p>
        </p:txBody>
      </p:sp>
    </p:spTree>
    <p:extLst>
      <p:ext uri="{BB962C8B-B14F-4D97-AF65-F5344CB8AC3E}">
        <p14:creationId xmlns:p14="http://schemas.microsoft.com/office/powerpoint/2010/main" val="1246759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8647B-6C2B-CB3B-0D0E-1B58A1ECE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6BB424-2624-41F1-159B-ECDC173F0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180" y="1650427"/>
            <a:ext cx="10301952" cy="4085807"/>
          </a:xfrm>
        </p:spPr>
        <p:txBody>
          <a:bodyPr/>
          <a:lstStyle/>
          <a:p>
            <a:r>
              <a:rPr lang="en-US" sz="2000">
                <a:solidFill>
                  <a:schemeClr val="tx1"/>
                </a:solidFill>
                <a:ea typeface="Calibri"/>
              </a:rPr>
              <a:t>Roadmap and Governance:</a:t>
            </a:r>
          </a:p>
          <a:p>
            <a:pPr marL="76200" indent="0">
              <a:buNone/>
            </a:pPr>
            <a:endParaRPr lang="en-US" sz="2000">
              <a:solidFill>
                <a:schemeClr val="tx1"/>
              </a:solidFill>
              <a:ea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607D1-6852-3040-1F0F-F21395DE65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2F00C-5E75-359A-6BCB-BEA59C6176C6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1E198A-AE66-B05A-AE09-F3EC16DEE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82975"/>
            <a:ext cx="8692718" cy="763500"/>
          </a:xfrm>
        </p:spPr>
        <p:txBody>
          <a:bodyPr/>
          <a:lstStyle/>
          <a:p>
            <a:r>
              <a:rPr lang="de-DE"/>
              <a:t>Key Achievements in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past</a:t>
            </a:r>
            <a:r>
              <a:rPr lang="de-DE"/>
              <a:t> </a:t>
            </a:r>
            <a:r>
              <a:rPr lang="de-DE" err="1"/>
              <a:t>year</a:t>
            </a:r>
            <a:endParaRPr lang="de-DE"/>
          </a:p>
        </p:txBody>
      </p:sp>
      <p:sp>
        <p:nvSpPr>
          <p:cNvPr id="41" name="Google Shape;161;p6">
            <a:extLst>
              <a:ext uri="{FF2B5EF4-FFF2-40B4-BE49-F238E27FC236}">
                <a16:creationId xmlns:a16="http://schemas.microsoft.com/office/drawing/2014/main" id="{91C6EF56-A3AB-B8C0-5857-DAEC72A392E2}"/>
              </a:ext>
            </a:extLst>
          </p:cNvPr>
          <p:cNvSpPr txBox="1">
            <a:spLocks/>
          </p:cNvSpPr>
          <p:nvPr/>
        </p:nvSpPr>
        <p:spPr>
          <a:xfrm>
            <a:off x="500180" y="120554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ADE"/>
              </a:buClr>
              <a:buSzPts val="3700"/>
              <a:buFont typeface="Century Gothic"/>
              <a:buNone/>
              <a:defRPr sz="3700" b="0" i="0" u="none" strike="noStrike" cap="none">
                <a:solidFill>
                  <a:srgbClr val="009AD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de-DE" sz="2400" b="1" dirty="0"/>
              <a:t>Workshop </a:t>
            </a:r>
            <a:r>
              <a:rPr lang="de-DE" sz="2400" b="1" dirty="0" err="1"/>
              <a:t>Results</a:t>
            </a:r>
            <a:r>
              <a:rPr lang="de-DE" sz="2400" b="1" dirty="0"/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42FEC0-AB28-1880-1453-327E69F12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793" y="2382198"/>
            <a:ext cx="9883997" cy="389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8165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334D7-C026-2333-81BC-1E78D91C9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0AEEE-F1F3-8491-AFD0-74CAB2B1A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180" y="1937318"/>
            <a:ext cx="10301952" cy="3798916"/>
          </a:xfrm>
        </p:spPr>
        <p:txBody>
          <a:bodyPr/>
          <a:lstStyle/>
          <a:p>
            <a:r>
              <a:rPr lang="en-US" sz="2000">
                <a:ea typeface="Calibri"/>
              </a:rPr>
              <a:t>Alignment on Architecture enhancement</a:t>
            </a:r>
          </a:p>
          <a:p>
            <a:r>
              <a:rPr lang="en-US" sz="2000">
                <a:solidFill>
                  <a:schemeClr val="tx1"/>
                </a:solidFill>
                <a:ea typeface="Calibri"/>
              </a:rPr>
              <a:t>Results obtained:</a:t>
            </a:r>
          </a:p>
          <a:p>
            <a:pPr lvl="1"/>
            <a:r>
              <a:rPr lang="en-US" sz="1600">
                <a:solidFill>
                  <a:schemeClr val="tx1"/>
                </a:solidFill>
                <a:ea typeface="Calibri"/>
              </a:rPr>
              <a:t>Expectations from digitalization of SCADA Systems</a:t>
            </a:r>
            <a:endParaRPr lang="en-US">
              <a:solidFill>
                <a:schemeClr val="tx1"/>
              </a:solidFill>
              <a:ea typeface="Calibri"/>
            </a:endParaRPr>
          </a:p>
          <a:p>
            <a:pPr lvl="1"/>
            <a:r>
              <a:rPr lang="en-US" sz="1600">
                <a:solidFill>
                  <a:schemeClr val="tx1"/>
                </a:solidFill>
                <a:ea typeface="Calibri"/>
              </a:rPr>
              <a:t>Architecture modules and improvement potentials</a:t>
            </a:r>
            <a:endParaRPr lang="en-US">
              <a:solidFill>
                <a:schemeClr val="tx1"/>
              </a:solidFill>
              <a:ea typeface="Calibri"/>
            </a:endParaRPr>
          </a:p>
          <a:p>
            <a:pPr lvl="1"/>
            <a:r>
              <a:rPr lang="en-US" sz="1600">
                <a:solidFill>
                  <a:schemeClr val="tx1"/>
                </a:solidFill>
                <a:ea typeface="Calibri"/>
              </a:rPr>
              <a:t>Suggestions on Governance of Open-Source Software.</a:t>
            </a:r>
          </a:p>
          <a:p>
            <a:pPr lvl="1"/>
            <a:r>
              <a:rPr lang="en-US" sz="1600"/>
              <a:t>Established tasks and roadmap align SONGO and OET efforts toward a unified platform.</a:t>
            </a:r>
            <a:endParaRPr lang="en-US" sz="1600">
              <a:solidFill>
                <a:schemeClr val="tx1"/>
              </a:solidFill>
              <a:ea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1B29C-3527-334F-805C-B4AAA06540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2158A6-D122-B456-144D-01C5D60F85B3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174B942-B0E8-492F-2584-2D07E0BDD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82975"/>
            <a:ext cx="8692718" cy="763500"/>
          </a:xfrm>
        </p:spPr>
        <p:txBody>
          <a:bodyPr/>
          <a:lstStyle/>
          <a:p>
            <a:r>
              <a:rPr lang="de-DE"/>
              <a:t>Key Achievements in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past</a:t>
            </a:r>
            <a:r>
              <a:rPr lang="de-DE"/>
              <a:t> </a:t>
            </a:r>
            <a:r>
              <a:rPr lang="de-DE" err="1"/>
              <a:t>year</a:t>
            </a:r>
            <a:endParaRPr lang="de-DE"/>
          </a:p>
        </p:txBody>
      </p:sp>
      <p:sp>
        <p:nvSpPr>
          <p:cNvPr id="2" name="Google Shape;161;p6">
            <a:extLst>
              <a:ext uri="{FF2B5EF4-FFF2-40B4-BE49-F238E27FC236}">
                <a16:creationId xmlns:a16="http://schemas.microsoft.com/office/drawing/2014/main" id="{936ABB4C-38E6-AAA4-DD83-DE2A6467664F}"/>
              </a:ext>
            </a:extLst>
          </p:cNvPr>
          <p:cNvSpPr txBox="1">
            <a:spLocks/>
          </p:cNvSpPr>
          <p:nvPr/>
        </p:nvSpPr>
        <p:spPr>
          <a:xfrm>
            <a:off x="500180" y="120554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ADE"/>
              </a:buClr>
              <a:buSzPts val="3700"/>
              <a:buFont typeface="Century Gothic"/>
              <a:buNone/>
              <a:defRPr sz="3700" b="0" i="0" u="none" strike="noStrike" cap="none">
                <a:solidFill>
                  <a:srgbClr val="009AD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de-DE" sz="2400" b="1" dirty="0"/>
              <a:t>Workshop </a:t>
            </a:r>
            <a:r>
              <a:rPr lang="de-DE" sz="2400" b="1" dirty="0" err="1"/>
              <a:t>Results</a:t>
            </a:r>
            <a:r>
              <a:rPr lang="de-DE" sz="2400" b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860072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6C744-3399-F90F-067D-609F866AF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key project: </a:t>
            </a:r>
            <a:r>
              <a:rPr lang="en-US" dirty="0" err="1"/>
              <a:t>OpenAIFlex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47570-CF44-256E-4A3B-809EE42A7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OpenAIFlex</a:t>
            </a:r>
            <a:r>
              <a:rPr lang="en-US" dirty="0"/>
              <a:t> is a contract with the European Commission led by INESC-TEC. Fraunhofer is a sub-contractor.</a:t>
            </a:r>
          </a:p>
          <a:p>
            <a:r>
              <a:rPr lang="en-US" dirty="0"/>
              <a:t>Thanks to this project some key milestones will be achieved:</a:t>
            </a:r>
          </a:p>
          <a:p>
            <a:pPr lvl="1"/>
            <a:r>
              <a:rPr lang="en-US" dirty="0"/>
              <a:t>Integration of the developments made in Rome back in the main line of the project</a:t>
            </a:r>
          </a:p>
          <a:p>
            <a:pPr lvl="1"/>
            <a:r>
              <a:rPr lang="en-US" dirty="0"/>
              <a:t>Installation of the SOGNO platform in Vienna and in other DSO in Austria</a:t>
            </a:r>
          </a:p>
          <a:p>
            <a:pPr lvl="1"/>
            <a:r>
              <a:rPr lang="en-US" dirty="0"/>
              <a:t>Replica of the experience also in one DSO in South America (negotiation in these days)</a:t>
            </a:r>
          </a:p>
          <a:p>
            <a:pPr lvl="1"/>
            <a:r>
              <a:rPr lang="en-US" dirty="0"/>
              <a:t>Creation of a dedicated API for AI-based services</a:t>
            </a:r>
          </a:p>
          <a:p>
            <a:pPr lvl="1"/>
            <a:r>
              <a:rPr lang="en-US" dirty="0"/>
              <a:t>Deployment of a first set of AI-driven services in all the active SOGNO locations including Rome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E468B-E31A-CC0C-1E4D-24D798B2BB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7BA407-788A-E91D-0022-414391BEB842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713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6F41C-F340-5C96-CE7A-8A99960EB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50" y="259616"/>
            <a:ext cx="11360700" cy="763500"/>
          </a:xfrm>
        </p:spPr>
        <p:txBody>
          <a:bodyPr/>
          <a:lstStyle/>
          <a:p>
            <a:r>
              <a:rPr lang="en-US" b="1">
                <a:solidFill>
                  <a:srgbClr val="00B0F0"/>
                </a:solidFill>
              </a:rPr>
              <a:t>Roadmap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05BCF1-A533-4602-B867-A9DCC07E4F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F0EC5-AE1B-1690-DE5F-9ECB074D72A9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 lang="en-US"/>
          </a:p>
        </p:txBody>
      </p:sp>
      <p:pic>
        <p:nvPicPr>
          <p:cNvPr id="6" name="Picture 5" descr="A screenshot of a document&#10;&#10;AI-generated content may be incorrect.">
            <a:extLst>
              <a:ext uri="{FF2B5EF4-FFF2-40B4-BE49-F238E27FC236}">
                <a16:creationId xmlns:a16="http://schemas.microsoft.com/office/drawing/2014/main" id="{62311867-60C2-9D92-5414-87423EC33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65" y="1020128"/>
            <a:ext cx="9963150" cy="540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6512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5485F-93A1-0F77-A7E1-D771E46D6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309791"/>
            <a:ext cx="11360700" cy="763500"/>
          </a:xfrm>
        </p:spPr>
        <p:txBody>
          <a:bodyPr/>
          <a:lstStyle/>
          <a:p>
            <a:pPr>
              <a:buClr>
                <a:srgbClr val="000000"/>
              </a:buClr>
            </a:pPr>
            <a:r>
              <a:rPr lang="en-US"/>
              <a:t>Growth Plan: Projects </a:t>
            </a:r>
            <a:endParaRPr lang="de-DE" sz="2000" b="1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A9496-8EE0-5A9E-7225-AED880AE3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5165" y="1077018"/>
            <a:ext cx="11360700" cy="4400592"/>
          </a:xfrm>
        </p:spPr>
        <p:txBody>
          <a:bodyPr/>
          <a:lstStyle/>
          <a:p>
            <a:pPr marL="342900" indent="-342900"/>
            <a:r>
              <a:rPr lang="en-US" b="1" err="1"/>
              <a:t>CreteValley</a:t>
            </a:r>
            <a:r>
              <a:rPr lang="en-US" b="1"/>
              <a:t>: </a:t>
            </a:r>
            <a:r>
              <a:rPr lang="en-US" err="1"/>
              <a:t>datafev</a:t>
            </a:r>
            <a:r>
              <a:rPr lang="en-US"/>
              <a:t> will be utilized to calculate EV flexibility</a:t>
            </a:r>
            <a:endParaRPr lang="en-US">
              <a:solidFill>
                <a:schemeClr val="tx1"/>
              </a:solidFill>
            </a:endParaRPr>
          </a:p>
          <a:p>
            <a:pPr marL="565150" lvl="1" indent="0">
              <a:buNone/>
            </a:pPr>
            <a:endParaRPr lang="en-US">
              <a:solidFill>
                <a:schemeClr val="tx1"/>
              </a:solidFill>
            </a:endParaRPr>
          </a:p>
          <a:p>
            <a:pPr lvl="1"/>
            <a:endParaRPr lang="de-DE"/>
          </a:p>
          <a:p>
            <a:pPr indent="-342900"/>
            <a:r>
              <a:rPr lang="en-US" b="1"/>
              <a:t>HEDGE-IoT</a:t>
            </a:r>
            <a:endParaRPr lang="en-US"/>
          </a:p>
          <a:p>
            <a:pPr lvl="1">
              <a:buSzPts val="2400"/>
            </a:pPr>
            <a:r>
              <a:rPr lang="en-US" err="1"/>
              <a:t>Utlize</a:t>
            </a:r>
            <a:r>
              <a:rPr lang="en-US"/>
              <a:t> </a:t>
            </a:r>
            <a:r>
              <a:rPr lang="en-US" i="1" err="1"/>
              <a:t>ProLoaF</a:t>
            </a:r>
            <a:r>
              <a:rPr lang="en-US" i="1"/>
              <a:t> </a:t>
            </a:r>
            <a:r>
              <a:rPr lang="en-US"/>
              <a:t>for demand forecasting as first step of congestion forecasting</a:t>
            </a:r>
          </a:p>
          <a:p>
            <a:pPr lvl="1">
              <a:buSzPts val="2400"/>
            </a:pPr>
            <a:r>
              <a:rPr lang="en-US"/>
              <a:t>Update </a:t>
            </a:r>
            <a:r>
              <a:rPr lang="en-US" i="1" err="1"/>
              <a:t>ProLoaF</a:t>
            </a:r>
            <a:r>
              <a:rPr lang="en-US" i="1"/>
              <a:t> </a:t>
            </a:r>
            <a:r>
              <a:rPr lang="en-US"/>
              <a:t>with SOTA algorithms(Transformer, TFT)</a:t>
            </a:r>
          </a:p>
          <a:p>
            <a:pPr lvl="1">
              <a:buSzPts val="2400"/>
            </a:pPr>
            <a:endParaRPr lang="en-US" b="1"/>
          </a:p>
          <a:p>
            <a:pPr lvl="1">
              <a:buSzPts val="2400"/>
            </a:pPr>
            <a:endParaRPr lang="en-US" b="1"/>
          </a:p>
          <a:p>
            <a:pPr marL="800100" lvl="1" indent="-342900"/>
            <a:endParaRPr lang="en-US"/>
          </a:p>
          <a:p>
            <a:pPr marL="342900" indent="-342900"/>
            <a:endParaRPr lang="en-US"/>
          </a:p>
          <a:p>
            <a:pPr marL="342900" indent="-342900"/>
            <a:endParaRPr lang="de-DE"/>
          </a:p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7828B-C304-1583-0FB5-AC8F835E3F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E6DCD-178A-0D37-C4FC-2E10735C1B61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6836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>
            <a:spLocks noGrp="1"/>
          </p:cNvSpPr>
          <p:nvPr>
            <p:ph type="title"/>
          </p:nvPr>
        </p:nvSpPr>
        <p:spPr>
          <a:xfrm>
            <a:off x="415600" y="433252"/>
            <a:ext cx="11360700" cy="763500"/>
          </a:xfrm>
          <a:prstGeom prst="rect">
            <a:avLst/>
          </a:prstGeom>
        </p:spPr>
        <p:txBody>
          <a:bodyPr spcFirstLastPara="1" wrap="square" lIns="122025" tIns="122025" rIns="122025" bIns="122025" anchor="t" anchorCtr="0">
            <a:noAutofit/>
          </a:bodyPr>
          <a:lstStyle/>
          <a:p>
            <a:r>
              <a:rPr lang="en-US"/>
              <a:t>Areas the project could use help on</a:t>
            </a:r>
            <a:endParaRPr lang="de-DE" sz="2000" b="1">
              <a:solidFill>
                <a:srgbClr val="FF0000"/>
              </a:solidFill>
            </a:endParaRPr>
          </a:p>
        </p:txBody>
      </p:sp>
      <p:sp>
        <p:nvSpPr>
          <p:cNvPr id="162" name="Google Shape;162;p25"/>
          <p:cNvSpPr txBox="1">
            <a:spLocks noGrp="1"/>
          </p:cNvSpPr>
          <p:nvPr>
            <p:ph type="body" idx="1"/>
          </p:nvPr>
        </p:nvSpPr>
        <p:spPr>
          <a:xfrm>
            <a:off x="415600" y="1300993"/>
            <a:ext cx="11360700" cy="4555200"/>
          </a:xfrm>
          <a:prstGeom prst="rect">
            <a:avLst/>
          </a:prstGeom>
        </p:spPr>
        <p:txBody>
          <a:bodyPr spcFirstLastPara="1" wrap="square" lIns="122025" tIns="122025" rIns="122025" bIns="122025" anchor="t" anchorCtr="0">
            <a:noAutofit/>
          </a:bodyPr>
          <a:lstStyle/>
          <a:p>
            <a:pPr marL="342900" indent="-342900"/>
            <a:r>
              <a:rPr lang="en-GB"/>
              <a:t>Enhance collaboration with other LF projects</a:t>
            </a:r>
          </a:p>
          <a:p>
            <a:pPr marL="800100" lvl="1" indent="-342900"/>
            <a:r>
              <a:rPr lang="en-US"/>
              <a:t>Exploring opportunities in the field of Data Spaces (</a:t>
            </a:r>
            <a:r>
              <a:rPr lang="en-US" err="1"/>
              <a:t>OneNet</a:t>
            </a:r>
            <a:r>
              <a:rPr lang="en-US"/>
              <a:t>).</a:t>
            </a:r>
          </a:p>
          <a:p>
            <a:pPr marL="800100" lvl="1" indent="-342900"/>
            <a:r>
              <a:rPr lang="en-US"/>
              <a:t>Connectors to interact with other platforms in the LFE ecosystem (</a:t>
            </a:r>
            <a:r>
              <a:rPr lang="en-US" err="1"/>
              <a:t>EVerest</a:t>
            </a:r>
            <a:r>
              <a:rPr lang="en-US"/>
              <a:t>).</a:t>
            </a:r>
          </a:p>
          <a:p>
            <a:pPr marL="342900" indent="-342900"/>
            <a:r>
              <a:rPr lang="en-US"/>
              <a:t>Growth opportunities:</a:t>
            </a:r>
          </a:p>
          <a:p>
            <a:pPr marL="800100" lvl="1" indent="-342900"/>
            <a:r>
              <a:rPr lang="en-US"/>
              <a:t>Promoting existing SOGNO services to potential users.</a:t>
            </a:r>
          </a:p>
          <a:p>
            <a:pPr marL="800100" lvl="1" indent="-342900"/>
            <a:r>
              <a:rPr lang="en-US"/>
              <a:t>Jointly searching funding opportunities for future developments.</a:t>
            </a:r>
          </a:p>
          <a:p>
            <a:pPr marL="342900" indent="-342900"/>
            <a:r>
              <a:rPr lang="en-US"/>
              <a:t>Guidance on management and quality assessment would be highly appreciated</a:t>
            </a:r>
          </a:p>
        </p:txBody>
      </p:sp>
      <p:sp>
        <p:nvSpPr>
          <p:cNvPr id="163" name="Google Shape;163;p25"/>
          <p:cNvSpPr txBox="1">
            <a:spLocks noGrp="1"/>
          </p:cNvSpPr>
          <p:nvPr>
            <p:ph type="sldNum" idx="12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</p:spPr>
        <p:txBody>
          <a:bodyPr spcFirstLastPara="1" wrap="square" lIns="122025" tIns="122025" rIns="122025" bIns="1220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164" name="Google Shape;164;p25"/>
          <p:cNvSpPr txBox="1">
            <a:spLocks noGrp="1"/>
          </p:cNvSpPr>
          <p:nvPr>
            <p:ph type="sldNum" idx="2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</p:spPr>
        <p:txBody>
          <a:bodyPr spcFirstLastPara="1" wrap="square" lIns="122025" tIns="122025" rIns="122025" bIns="1220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4755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415650" y="373904"/>
            <a:ext cx="11360700" cy="763500"/>
          </a:xfrm>
        </p:spPr>
        <p:txBody>
          <a:bodyPr/>
          <a:lstStyle/>
          <a:p>
            <a:r>
              <a:rPr lang="de-DE" err="1"/>
              <a:t>OpenSSF</a:t>
            </a:r>
            <a:r>
              <a:rPr lang="de-DE"/>
              <a:t> Best Practices</a:t>
            </a:r>
          </a:p>
        </p:txBody>
      </p:sp>
      <p:sp>
        <p:nvSpPr>
          <p:cNvPr id="11" name="Textfeld 10"/>
          <p:cNvSpPr txBox="1"/>
          <p:nvPr/>
        </p:nvSpPr>
        <p:spPr>
          <a:xfrm>
            <a:off x="3493607" y="5698359"/>
            <a:ext cx="42306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/>
              <a:t>https://bestpractices.coreinfrastructure.org/en/projects/5627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26E0B0-4372-25D4-6C83-3E401163F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265" y="1135162"/>
            <a:ext cx="9329316" cy="516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0921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44F3E-99CC-EC6E-8352-98AC1CA3D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599" y="356245"/>
            <a:ext cx="11360700" cy="763500"/>
          </a:xfrm>
        </p:spPr>
        <p:txBody>
          <a:bodyPr/>
          <a:lstStyle/>
          <a:p>
            <a:r>
              <a:rPr lang="en-US" b="1">
                <a:solidFill>
                  <a:srgbClr val="00B0F0"/>
                </a:solidFill>
              </a:rPr>
              <a:t>Status of the </a:t>
            </a:r>
            <a:r>
              <a:rPr lang="en-US" b="1" err="1">
                <a:solidFill>
                  <a:srgbClr val="00B0F0"/>
                </a:solidFill>
              </a:rPr>
              <a:t>OpenSSF</a:t>
            </a:r>
            <a:r>
              <a:rPr lang="en-US" b="1">
                <a:solidFill>
                  <a:srgbClr val="00B0F0"/>
                </a:solidFill>
              </a:rPr>
              <a:t> Badge</a:t>
            </a:r>
            <a:endParaRPr lang="de-DE" sz="2000" b="1">
              <a:solidFill>
                <a:srgbClr val="00B0F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1BA8F-6F48-1F3C-4A0A-6708694EB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599" y="1183843"/>
            <a:ext cx="11360699" cy="4802023"/>
          </a:xfrm>
        </p:spPr>
        <p:txBody>
          <a:bodyPr/>
          <a:lstStyle/>
          <a:p>
            <a:r>
              <a:rPr lang="en-US" sz="2000" dirty="0" err="1"/>
              <a:t>OpenSSF’s</a:t>
            </a:r>
            <a:r>
              <a:rPr lang="en-US" sz="2000" dirty="0"/>
              <a:t> certification is discussed in our regular internal meetings</a:t>
            </a:r>
            <a:endParaRPr lang="en-US" dirty="0"/>
          </a:p>
          <a:p>
            <a:r>
              <a:rPr lang="en-US" sz="2000"/>
              <a:t>SOGNO has several repositories and contributors to align</a:t>
            </a:r>
          </a:p>
          <a:p>
            <a:r>
              <a:rPr lang="en-US" sz="2000" dirty="0"/>
              <a:t>Verifying non-compliant repositories and disseminating the requirements among colleagues</a:t>
            </a:r>
          </a:p>
          <a:p>
            <a:r>
              <a:rPr lang="en-US" sz="2000" dirty="0"/>
              <a:t>We have more manpower now (RWHT+FIT), and we are refining our workflow</a:t>
            </a:r>
          </a:p>
          <a:p>
            <a:r>
              <a:rPr lang="en-US" sz="2000"/>
              <a:t>The Silver Badge is our final target for the whole SOGNO platform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3377B7-EFE9-322B-8202-C420F95F8F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8F0BC-422F-9CD5-4FE6-431A5363372A}"/>
              </a:ext>
            </a:extLst>
          </p:cNvPr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6403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>
            <a:spLocks noGrp="1"/>
          </p:cNvSpPr>
          <p:nvPr>
            <p:ph type="title"/>
          </p:nvPr>
        </p:nvSpPr>
        <p:spPr>
          <a:xfrm>
            <a:off x="415600" y="387900"/>
            <a:ext cx="11360700" cy="763500"/>
          </a:xfrm>
          <a:prstGeom prst="rect">
            <a:avLst/>
          </a:prstGeom>
        </p:spPr>
        <p:txBody>
          <a:bodyPr spcFirstLastPara="1" wrap="square" lIns="122025" tIns="122025" rIns="122025" bIns="122025" anchor="t" anchorCtr="0">
            <a:noAutofit/>
          </a:bodyPr>
          <a:lstStyle/>
          <a:p>
            <a:r>
              <a:rPr lang="en-US"/>
              <a:t>Feedback on working with LF Energy</a:t>
            </a:r>
            <a:endParaRPr lang="de-DE" sz="2000" b="1">
              <a:solidFill>
                <a:srgbClr val="FF0000"/>
              </a:solidFill>
            </a:endParaRPr>
          </a:p>
        </p:txBody>
      </p:sp>
      <p:sp>
        <p:nvSpPr>
          <p:cNvPr id="171" name="Google Shape;171;p26"/>
          <p:cNvSpPr txBox="1">
            <a:spLocks noGrp="1"/>
          </p:cNvSpPr>
          <p:nvPr>
            <p:ph type="body" idx="1"/>
          </p:nvPr>
        </p:nvSpPr>
        <p:spPr>
          <a:xfrm>
            <a:off x="415600" y="1410511"/>
            <a:ext cx="11360700" cy="4442004"/>
          </a:xfrm>
          <a:prstGeom prst="rect">
            <a:avLst/>
          </a:prstGeom>
        </p:spPr>
        <p:txBody>
          <a:bodyPr spcFirstLastPara="1" wrap="square" lIns="122025" tIns="122025" rIns="122025" bIns="122025" anchor="t" anchorCtr="0">
            <a:noAutofit/>
          </a:bodyPr>
          <a:lstStyle/>
          <a:p>
            <a:pPr marL="342900" indent="-342900"/>
            <a:r>
              <a:rPr lang="en-GB" sz="2000"/>
              <a:t>Helps to identify common elements that can then be used as a framework to expand the SOGNO suite more cleanly.</a:t>
            </a:r>
            <a:endParaRPr lang="en-GB"/>
          </a:p>
          <a:p>
            <a:pPr marL="342900" indent="-342900"/>
            <a:r>
              <a:rPr lang="en-GB" sz="2000"/>
              <a:t>Motivates to produce reusable, open source, and well-documented code during research projects, thus also improving the transfer of learning.</a:t>
            </a:r>
          </a:p>
          <a:p>
            <a:pPr marL="342900" indent="-342900"/>
            <a:r>
              <a:rPr lang="en-GB" sz="2000"/>
              <a:t>Identification and alignment with the industry requirements thanks to the open community environment.</a:t>
            </a:r>
          </a:p>
          <a:p>
            <a:pPr marL="342900" indent="-342900"/>
            <a:r>
              <a:rPr lang="en-GB" sz="2000"/>
              <a:t>Automated tools are very helpful: License scan and Insights.</a:t>
            </a:r>
          </a:p>
          <a:p>
            <a:pPr marL="342900" indent="-342900"/>
            <a:r>
              <a:rPr lang="en-GB" sz="2000"/>
              <a:t>Reviewing the requirements for best practices gives us a new way of working</a:t>
            </a:r>
          </a:p>
        </p:txBody>
      </p:sp>
      <p:sp>
        <p:nvSpPr>
          <p:cNvPr id="172" name="Google Shape;172;p26"/>
          <p:cNvSpPr txBox="1">
            <a:spLocks noGrp="1"/>
          </p:cNvSpPr>
          <p:nvPr>
            <p:ph type="sldNum" idx="12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</p:spPr>
        <p:txBody>
          <a:bodyPr spcFirstLastPara="1" wrap="square" lIns="122025" tIns="122025" rIns="122025" bIns="1220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173" name="Google Shape;173;p26"/>
          <p:cNvSpPr txBox="1">
            <a:spLocks noGrp="1"/>
          </p:cNvSpPr>
          <p:nvPr>
            <p:ph type="sldNum" idx="2"/>
          </p:nvPr>
        </p:nvSpPr>
        <p:spPr>
          <a:xfrm>
            <a:off x="11296600" y="6431714"/>
            <a:ext cx="731700" cy="307500"/>
          </a:xfrm>
          <a:prstGeom prst="rect">
            <a:avLst/>
          </a:prstGeom>
        </p:spPr>
        <p:txBody>
          <a:bodyPr spcFirstLastPara="1" wrap="square" lIns="122025" tIns="122025" rIns="122025" bIns="1220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21443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>
            <a:spLocks noGrp="1"/>
          </p:cNvSpPr>
          <p:nvPr>
            <p:ph type="ctrTitle"/>
          </p:nvPr>
        </p:nvSpPr>
        <p:spPr>
          <a:xfrm>
            <a:off x="1524000" y="1894900"/>
            <a:ext cx="9144000" cy="6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2800"/>
              <a:buFont typeface="Gill Sans"/>
              <a:buNone/>
            </a:pPr>
            <a:r>
              <a:rPr lang="en-US"/>
              <a:t>TAC Open Discussion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84666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LF Energy - Project Review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D07D785E0584746964677F3B25DDA0C" ma:contentTypeVersion="8" ma:contentTypeDescription="Ein neues Dokument erstellen." ma:contentTypeScope="" ma:versionID="0bebe212ee98eff3b9e7a46840882c84">
  <xsd:schema xmlns:xsd="http://www.w3.org/2001/XMLSchema" xmlns:xs="http://www.w3.org/2001/XMLSchema" xmlns:p="http://schemas.microsoft.com/office/2006/metadata/properties" xmlns:ns2="0ff29e2b-9514-494b-8cf4-6aae41211dca" targetNamespace="http://schemas.microsoft.com/office/2006/metadata/properties" ma:root="true" ma:fieldsID="edd632e2e0357680374c77d2f2947fd6" ns2:_="">
    <xsd:import namespace="0ff29e2b-9514-494b-8cf4-6aae41211dc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f29e2b-9514-494b-8cf4-6aae41211d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15B5955-9F76-4F91-9B67-C9EE6F105DA3}">
  <ds:schemaRefs>
    <ds:schemaRef ds:uri="0ff29e2b-9514-494b-8cf4-6aae41211dc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3B94EB2-C9CA-4E2E-8756-21575E0C4E9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78D9737-43BB-4EDC-ACDA-940C9B136F4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1432</Words>
  <Application>Microsoft Macintosh PowerPoint</Application>
  <PresentationFormat>Widescreen</PresentationFormat>
  <Paragraphs>239</Paragraphs>
  <Slides>26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Arial</vt:lpstr>
      <vt:lpstr>Arial,Sans-Serif</vt:lpstr>
      <vt:lpstr>Calibri</vt:lpstr>
      <vt:lpstr>Century Gothic</vt:lpstr>
      <vt:lpstr>Courier New</vt:lpstr>
      <vt:lpstr>Gill Sans</vt:lpstr>
      <vt:lpstr>Roboto</vt:lpstr>
      <vt:lpstr>Segoe UI</vt:lpstr>
      <vt:lpstr>Wingdings</vt:lpstr>
      <vt:lpstr>LF Energy - Project Review Template</vt:lpstr>
      <vt:lpstr>Annual Review for SOGNO </vt:lpstr>
      <vt:lpstr>SOGNO </vt:lpstr>
      <vt:lpstr>Organizations/projects contributing/using SOGNO  </vt:lpstr>
      <vt:lpstr>Contributions:</vt:lpstr>
      <vt:lpstr>Contributions:</vt:lpstr>
      <vt:lpstr>PowerPoint Presentation</vt:lpstr>
      <vt:lpstr>PowerPoint Presentation</vt:lpstr>
      <vt:lpstr>PowerPoint Presentation</vt:lpstr>
      <vt:lpstr>Key Achievements in the past year</vt:lpstr>
      <vt:lpstr>Key Achievements in the past year</vt:lpstr>
      <vt:lpstr>PowerPoint Presentation</vt:lpstr>
      <vt:lpstr>Key Achievements in the past year</vt:lpstr>
      <vt:lpstr>Key Achievements in the past year</vt:lpstr>
      <vt:lpstr>Key Achievements in the past year</vt:lpstr>
      <vt:lpstr>Key Achievements in the past year</vt:lpstr>
      <vt:lpstr>Key Achievements in the past year</vt:lpstr>
      <vt:lpstr>Key Achievements in the past year</vt:lpstr>
      <vt:lpstr>Key Achievements in the past year</vt:lpstr>
      <vt:lpstr>New key project: OpenAIFlex</vt:lpstr>
      <vt:lpstr>Roadmap 2026</vt:lpstr>
      <vt:lpstr>Growth Plan: Projects </vt:lpstr>
      <vt:lpstr>Areas the project could use help on</vt:lpstr>
      <vt:lpstr>OpenSSF Best Practices</vt:lpstr>
      <vt:lpstr>Status of the OpenSSF Badge</vt:lpstr>
      <vt:lpstr>Feedback on working with LF Energy</vt:lpstr>
      <vt:lpstr>TAC Open Discussion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Annual Review for PROJECT NAME</dc:title>
  <dc:creator>asimenia</dc:creator>
  <cp:lastModifiedBy>Antonello Monti</cp:lastModifiedBy>
  <cp:revision>19</cp:revision>
  <dcterms:modified xsi:type="dcterms:W3CDTF">2026-10-06T14:11:43Z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0x0101001D07D785E0584746964677F3B25DDA0C</vt:lpwstr>
  </property>
</Properties>
</file>