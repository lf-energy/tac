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Roboto Slab Light"/>
      <p:regular r:id="rId18"/>
      <p:bold r:id="rId19"/>
    </p:embeddedFont>
    <p:embeddedFont>
      <p:font typeface="Roboto Slab"/>
      <p:regular r:id="rId20"/>
      <p:bold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Gill Sans"/>
      <p:regular r:id="rId30"/>
      <p:bold r:id="rId31"/>
    </p:embeddedFont>
    <p:embeddedFont>
      <p:font typeface="Century Gothic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Roboto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illSans-bold.fntdata"/><Relationship Id="rId30" Type="http://schemas.openxmlformats.org/officeDocument/2006/relationships/font" Target="fonts/GillSans-regular.fntdata"/><Relationship Id="rId11" Type="http://schemas.openxmlformats.org/officeDocument/2006/relationships/slide" Target="slides/slide6.xml"/><Relationship Id="rId33" Type="http://schemas.openxmlformats.org/officeDocument/2006/relationships/font" Target="fonts/CenturyGothic-bold.fntdata"/><Relationship Id="rId10" Type="http://schemas.openxmlformats.org/officeDocument/2006/relationships/slide" Target="slides/slide5.xml"/><Relationship Id="rId32" Type="http://schemas.openxmlformats.org/officeDocument/2006/relationships/font" Target="fonts/CenturyGothic-regular.fntdata"/><Relationship Id="rId13" Type="http://schemas.openxmlformats.org/officeDocument/2006/relationships/slide" Target="slides/slide8.xml"/><Relationship Id="rId35" Type="http://schemas.openxmlformats.org/officeDocument/2006/relationships/font" Target="fonts/CenturyGothic-boldItalic.fntdata"/><Relationship Id="rId12" Type="http://schemas.openxmlformats.org/officeDocument/2006/relationships/slide" Target="slides/slide7.xml"/><Relationship Id="rId34" Type="http://schemas.openxmlformats.org/officeDocument/2006/relationships/font" Target="fonts/CenturyGothic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SlabLight-bold.fntdata"/><Relationship Id="rId18" Type="http://schemas.openxmlformats.org/officeDocument/2006/relationships/font" Target="fonts/RobotoSlab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5a4737ce16_2_2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5a4737ce16_2_2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213a0a5f6b_0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213a0a5f6b_0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2213a0a5f6b_0_1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c5c945a8ed_0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c5c945a8ed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c5c945a8ed_0_1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9fed4b195b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9fed4b195b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19fed4b195b_0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9fed4b195b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9fed4b195b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19fed4b195b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c5c945a8ed_0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c5c945a8ed_0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c5c945a8ed_0_1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c5c945a8ed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c5c945a8ed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c5c945a8ed_0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c5c945a8ed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c5c945a8ed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c5c945a8ed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c6a4dd1d01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c6a4dd1d01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c6a4dd1d01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c6a529b02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c6a529b02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c6a529b02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c6a529b02b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c6a529b02b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c6a529b02b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Light">
  <p:cSld name="TITLE_4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10838404" y="-12"/>
            <a:ext cx="1353600" cy="13536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10838437" y="2388"/>
            <a:ext cx="1353600" cy="135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 rot="10800000">
            <a:off x="10836733" y="2707167"/>
            <a:ext cx="1356900" cy="135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10140033" y="800"/>
            <a:ext cx="1352100" cy="1352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10838404" y="1353621"/>
            <a:ext cx="1353600" cy="135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97619" y="1554080"/>
            <a:ext cx="635133" cy="9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 rot="10800000">
            <a:off x="9483237" y="2396"/>
            <a:ext cx="1353600" cy="13536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4637" y="2799526"/>
            <a:ext cx="5435200" cy="83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Dark 1">
  <p:cSld name="TITLE_3">
    <p:bg>
      <p:bgPr>
        <a:gradFill>
          <a:gsLst>
            <a:gs pos="0">
              <a:srgbClr val="42B0FF"/>
            </a:gs>
            <a:gs pos="100000">
              <a:srgbClr val="076EB8"/>
            </a:gs>
          </a:gsLst>
          <a:lin ang="13500032" scaled="0"/>
        </a:gra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797467" y="1635171"/>
            <a:ext cx="7377900" cy="25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11083136" y="5735579"/>
            <a:ext cx="1126457" cy="111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0945200" y="0"/>
            <a:ext cx="1246800" cy="124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8400" y="4467"/>
            <a:ext cx="1246800" cy="1237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0775" y="5646700"/>
            <a:ext cx="3433475" cy="5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Dark 2">
  <p:cSld name="TITLE_2">
    <p:bg>
      <p:bgPr>
        <a:solidFill>
          <a:schemeClr val="accen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ctrTitle"/>
          </p:nvPr>
        </p:nvSpPr>
        <p:spPr>
          <a:xfrm>
            <a:off x="797467" y="1635171"/>
            <a:ext cx="7377900" cy="25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11083136" y="5735579"/>
            <a:ext cx="1126457" cy="111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0838404" y="-12"/>
            <a:ext cx="1353600" cy="1353600"/>
          </a:xfrm>
          <a:prstGeom prst="rect">
            <a:avLst/>
          </a:prstGeom>
          <a:solidFill>
            <a:srgbClr val="5B1DE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 rot="10800000">
            <a:off x="10838385" y="1353800"/>
            <a:ext cx="1353600" cy="1353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75" y="5646700"/>
            <a:ext cx="3433475" cy="5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Light">
  <p:cSld name="TITLE_1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10965631" y="-16"/>
            <a:ext cx="1229100" cy="1229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 txBox="1"/>
          <p:nvPr>
            <p:ph type="ctrTitle"/>
          </p:nvPr>
        </p:nvSpPr>
        <p:spPr>
          <a:xfrm>
            <a:off x="797467" y="1635171"/>
            <a:ext cx="7377900" cy="25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8425" y="5648475"/>
            <a:ext cx="3433520" cy="5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F6F7FA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 flipH="1" rot="5400000">
            <a:off x="-16" y="5504409"/>
            <a:ext cx="1353600" cy="1353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>
            <p:ph type="title"/>
          </p:nvPr>
        </p:nvSpPr>
        <p:spPr>
          <a:xfrm>
            <a:off x="809533" y="2864963"/>
            <a:ext cx="109629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74161" y="-1"/>
            <a:ext cx="1317833" cy="1317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5400012" scaled="0"/>
        </a:gra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/>
          <p:nvPr/>
        </p:nvSpPr>
        <p:spPr>
          <a:xfrm flipH="1" rot="5400000">
            <a:off x="-16" y="5504409"/>
            <a:ext cx="1353600" cy="1353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38400" y="0"/>
            <a:ext cx="1353600" cy="1343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415600" y="546667"/>
            <a:ext cx="88188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" type="body"/>
          </p:nvPr>
        </p:nvSpPr>
        <p:spPr>
          <a:xfrm>
            <a:off x="415600" y="1639967"/>
            <a:ext cx="53331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7" name="Google Shape;57;p8"/>
          <p:cNvSpPr txBox="1"/>
          <p:nvPr>
            <p:ph idx="2" type="body"/>
          </p:nvPr>
        </p:nvSpPr>
        <p:spPr>
          <a:xfrm>
            <a:off x="6443200" y="1639967"/>
            <a:ext cx="53331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9" name="Google Shape;59;p8"/>
          <p:cNvGrpSpPr/>
          <p:nvPr/>
        </p:nvGrpSpPr>
        <p:grpSpPr>
          <a:xfrm>
            <a:off x="9295580" y="-16"/>
            <a:ext cx="2899740" cy="1933306"/>
            <a:chOff x="6098378" y="5"/>
            <a:chExt cx="3045625" cy="2030570"/>
          </a:xfrm>
        </p:grpSpPr>
        <p:sp>
          <p:nvSpPr>
            <p:cNvPr id="60" name="Google Shape;60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67933" y="0"/>
            <a:ext cx="627700" cy="6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75" y="6152437"/>
            <a:ext cx="3433688" cy="5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/>
          <p:nvPr/>
        </p:nvSpPr>
        <p:spPr>
          <a:xfrm>
            <a:off x="11243921" y="5908223"/>
            <a:ext cx="965700" cy="96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/>
          <p:nvPr/>
        </p:nvSpPr>
        <p:spPr>
          <a:xfrm rot="10800000">
            <a:off x="10268601" y="5908167"/>
            <a:ext cx="975300" cy="974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11224800" y="0"/>
            <a:ext cx="967200" cy="96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373800" y="1688600"/>
            <a:ext cx="113607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pic>
        <p:nvPicPr>
          <p:cNvPr id="73" name="Google Shape;7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3775" y="6152437"/>
            <a:ext cx="3433688" cy="5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" name="Google Shape;7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3775" y="6152437"/>
            <a:ext cx="3433688" cy="5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/>
          <p:nvPr>
            <p:ph type="title"/>
          </p:nvPr>
        </p:nvSpPr>
        <p:spPr>
          <a:xfrm>
            <a:off x="354000" y="1534800"/>
            <a:ext cx="53937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81" name="Google Shape;81;p11"/>
          <p:cNvSpPr txBox="1"/>
          <p:nvPr>
            <p:ph idx="1" type="subTitle"/>
          </p:nvPr>
        </p:nvSpPr>
        <p:spPr>
          <a:xfrm>
            <a:off x="354000" y="3692001"/>
            <a:ext cx="5393700" cy="16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2" name="Google Shape;82;p11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4" name="Google Shape;8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64033" y="-8"/>
            <a:ext cx="1227967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75" y="6152437"/>
            <a:ext cx="3433688" cy="5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rgbClr val="003778"/>
            </a:gs>
            <a:gs pos="100000">
              <a:srgbClr val="00183C"/>
            </a:gs>
          </a:gsLst>
          <a:lin ang="2700006" scaled="0"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2"/>
          <p:cNvGrpSpPr/>
          <p:nvPr/>
        </p:nvGrpSpPr>
        <p:grpSpPr>
          <a:xfrm>
            <a:off x="8130967" y="7"/>
            <a:ext cx="4060732" cy="2707359"/>
            <a:chOff x="6098378" y="5"/>
            <a:chExt cx="3045625" cy="2030570"/>
          </a:xfrm>
        </p:grpSpPr>
        <p:sp>
          <p:nvSpPr>
            <p:cNvPr id="88" name="Google Shape;88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12"/>
          <p:cNvSpPr txBox="1"/>
          <p:nvPr>
            <p:ph hasCustomPrompt="1" type="title"/>
          </p:nvPr>
        </p:nvSpPr>
        <p:spPr>
          <a:xfrm>
            <a:off x="415600" y="1674733"/>
            <a:ext cx="11360700" cy="27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>
            <a:off x="415600" y="4492300"/>
            <a:ext cx="11360700" cy="17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5" name="Google Shape;9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80567" y="401461"/>
            <a:ext cx="382100" cy="573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Dark" type="title">
  <p:cSld name="TITLE">
    <p:bg>
      <p:bgPr>
        <a:gradFill>
          <a:gsLst>
            <a:gs pos="0">
              <a:srgbClr val="003778"/>
            </a:gs>
            <a:gs pos="100000">
              <a:srgbClr val="00183C"/>
            </a:gs>
          </a:gsLst>
          <a:lin ang="2700006" scaled="0"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10838404" y="-12"/>
            <a:ext cx="1353600" cy="13536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10838437" y="2388"/>
            <a:ext cx="1353600" cy="135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/>
          <p:nvPr/>
        </p:nvSpPr>
        <p:spPr>
          <a:xfrm rot="10800000">
            <a:off x="9483237" y="2396"/>
            <a:ext cx="1353600" cy="13536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/>
          <p:nvPr/>
        </p:nvSpPr>
        <p:spPr>
          <a:xfrm rot="10800000">
            <a:off x="10836733" y="2707167"/>
            <a:ext cx="1356900" cy="135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10140033" y="800"/>
            <a:ext cx="1352100" cy="1352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10838404" y="1353621"/>
            <a:ext cx="1353600" cy="135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97619" y="1554080"/>
            <a:ext cx="635133" cy="9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5" y="5540165"/>
            <a:ext cx="1317833" cy="131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7325" y="2765037"/>
            <a:ext cx="6233144" cy="9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2">
  <p:cSld name="Section 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457200" y="914400"/>
            <a:ext cx="112473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Century Gothic"/>
              <a:buNone/>
              <a:defRPr b="0" i="0" sz="4000" cap="none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/Image White">
  <p:cSld name="Two Column/Image White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6858000" y="457200"/>
            <a:ext cx="4572000" cy="59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55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55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3" type="body"/>
          </p:nvPr>
        </p:nvSpPr>
        <p:spPr>
          <a:xfrm>
            <a:off x="1280612" y="457200"/>
            <a:ext cx="3429000" cy="59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55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55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57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11224800" y="0"/>
            <a:ext cx="967200" cy="96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3780" y="6201600"/>
            <a:ext cx="1294373" cy="426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/Image">
  <p:cSld name="One Column/Image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457199" y="1920240"/>
            <a:ext cx="516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4pPr>
            <a:lvl5pPr indent="-355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type="title"/>
          </p:nvPr>
        </p:nvSpPr>
        <p:spPr>
          <a:xfrm>
            <a:off x="457200" y="457200"/>
            <a:ext cx="5167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57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Overview">
  <p:cSld name="OBJECT_1">
    <p:bg>
      <p:bgPr>
        <a:gradFill>
          <a:gsLst>
            <a:gs pos="0">
              <a:srgbClr val="42B0FF"/>
            </a:gs>
            <a:gs pos="100000">
              <a:srgbClr val="076EB8"/>
            </a:gs>
          </a:gsLst>
          <a:lin ang="13500032" scaled="0"/>
        </a:gra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/>
          <p:nvPr/>
        </p:nvSpPr>
        <p:spPr>
          <a:xfrm>
            <a:off x="-25" y="1387600"/>
            <a:ext cx="12192000" cy="54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616950" y="1513850"/>
            <a:ext cx="6414600" cy="44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indent="-355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indent="-355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indent="-355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indent="-34925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4087500" y="147450"/>
            <a:ext cx="8104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i="0" sz="4000" u="none" cap="none" strike="noStrike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31" name="Google Shape;131;p20"/>
          <p:cNvSpPr/>
          <p:nvPr>
            <p:ph idx="2" type="pic"/>
          </p:nvPr>
        </p:nvSpPr>
        <p:spPr>
          <a:xfrm>
            <a:off x="-7" y="-50"/>
            <a:ext cx="3715200" cy="13674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20"/>
          <p:cNvSpPr/>
          <p:nvPr>
            <p:ph idx="3" type="pic"/>
          </p:nvPr>
        </p:nvSpPr>
        <p:spPr>
          <a:xfrm>
            <a:off x="7287300" y="1513850"/>
            <a:ext cx="4645200" cy="3031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0"/>
          <p:cNvSpPr txBox="1"/>
          <p:nvPr>
            <p:ph idx="4" type="subTitle"/>
          </p:nvPr>
        </p:nvSpPr>
        <p:spPr>
          <a:xfrm>
            <a:off x="7287300" y="4611950"/>
            <a:ext cx="46452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>
            <a:lvl1pPr lv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20"/>
          <p:cNvSpPr txBox="1"/>
          <p:nvPr>
            <p:ph idx="5" type="subTitle"/>
          </p:nvPr>
        </p:nvSpPr>
        <p:spPr>
          <a:xfrm>
            <a:off x="7287300" y="5173275"/>
            <a:ext cx="4645200" cy="494700"/>
          </a:xfrm>
          <a:prstGeom prst="rect">
            <a:avLst/>
          </a:prstGeom>
          <a:solidFill>
            <a:srgbClr val="009ADE"/>
          </a:solidFill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b="1"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 Slab"/>
              <a:buNone/>
              <a:defRPr b="1" sz="900"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 Slab"/>
              <a:buNone/>
              <a:defRPr b="1" sz="900"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 Slab"/>
              <a:buNone/>
              <a:defRPr b="1" sz="900"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 Slab"/>
              <a:buNone/>
              <a:defRPr b="1" sz="900"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 Slab"/>
              <a:buNone/>
              <a:defRPr b="1" sz="900"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 Slab"/>
              <a:buNone/>
              <a:defRPr b="1" sz="900"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 Slab"/>
              <a:buNone/>
              <a:defRPr b="1" sz="900"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SzPts val="900"/>
              <a:buFont typeface="Roboto Slab"/>
              <a:buNone/>
              <a:defRPr b="1" sz="900"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35" name="Google Shape;135;p20"/>
          <p:cNvSpPr txBox="1"/>
          <p:nvPr>
            <p:ph idx="6" type="subTitle"/>
          </p:nvPr>
        </p:nvSpPr>
        <p:spPr>
          <a:xfrm>
            <a:off x="7287300" y="5734600"/>
            <a:ext cx="4645200" cy="494700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"/>
              <a:buNone/>
              <a:defRPr b="1" sz="14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None/>
              <a:defRPr b="1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None/>
              <a:defRPr b="1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None/>
              <a:defRPr b="1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None/>
              <a:defRPr b="1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None/>
              <a:defRPr b="1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None/>
              <a:defRPr b="1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None/>
              <a:defRPr b="1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lt1"/>
              </a:buClr>
              <a:buSzPts val="900"/>
              <a:buFont typeface="Montserrat"/>
              <a:buNone/>
              <a:defRPr b="1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36" name="Google Shape;13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3775" y="6152437"/>
            <a:ext cx="3433688" cy="5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/Image">
  <p:cSld name="Section/Imag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1"/>
          <p:cNvSpPr txBox="1"/>
          <p:nvPr>
            <p:ph type="title"/>
          </p:nvPr>
        </p:nvSpPr>
        <p:spPr>
          <a:xfrm>
            <a:off x="457200" y="914400"/>
            <a:ext cx="11247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b="0" i="0" sz="4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1">
  <p:cSld name="Statement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457200" y="4353243"/>
            <a:ext cx="112470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b="0" i="0" sz="4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1">
  <p:cSld name="Section 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ctrTitle"/>
          </p:nvPr>
        </p:nvSpPr>
        <p:spPr>
          <a:xfrm>
            <a:off x="1524000" y="1894900"/>
            <a:ext cx="91440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entury Gothic"/>
              <a:buNone/>
              <a:defRPr b="0"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7244" l="0" r="0" t="7235"/>
          <a:stretch/>
        </p:blipFill>
        <p:spPr>
          <a:xfrm>
            <a:off x="4211070" y="4711362"/>
            <a:ext cx="3774313" cy="49337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i="0" sz="1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 Light"/>
              <a:buNone/>
              <a:defRPr b="0" i="0" sz="4000" u="none" cap="none" strike="noStrike"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0" i="0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0" i="0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0" i="0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0" i="0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0" i="0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0" i="0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0" i="0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0" i="0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Slab Light"/>
              <a:buChar char="●"/>
              <a:defRPr i="0" sz="2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Slab Light"/>
              <a:buChar char="○"/>
              <a:defRPr i="0" sz="19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Slab Light"/>
              <a:buChar char="■"/>
              <a:defRPr i="0" sz="19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Slab Light"/>
              <a:buChar char="●"/>
              <a:defRPr i="0" sz="19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Slab Light"/>
              <a:buChar char="○"/>
              <a:defRPr i="0" sz="19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Slab Light"/>
              <a:buChar char="■"/>
              <a:defRPr i="0" sz="19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Slab Light"/>
              <a:buChar char="●"/>
              <a:defRPr i="0" sz="19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Slab Light"/>
              <a:buChar char="○"/>
              <a:defRPr i="0" sz="19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 Slab Light"/>
              <a:buChar char="■"/>
              <a:defRPr i="0" sz="19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landscape.lfenergy.org" TargetMode="External"/><Relationship Id="rId4" Type="http://schemas.openxmlformats.org/officeDocument/2006/relationships/hyperlink" Target="http://landscape.lfenergy.org" TargetMode="External"/><Relationship Id="rId5" Type="http://schemas.openxmlformats.org/officeDocument/2006/relationships/hyperlink" Target="http://landscape.lfenergy.or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estpractices.coreinfrastructure.org/" TargetMode="External"/><Relationship Id="rId4" Type="http://schemas.openxmlformats.org/officeDocument/2006/relationships/hyperlink" Target="https://bestpractices.coreinfrastructure.org/en/criteria/0" TargetMode="External"/><Relationship Id="rId5" Type="http://schemas.openxmlformats.org/officeDocument/2006/relationships/hyperlink" Target="https://github.com/ddbeck/readme-checklist" TargetMode="External"/><Relationship Id="rId6" Type="http://schemas.openxmlformats.org/officeDocument/2006/relationships/hyperlink" Target="https://github.com/lf-energy/tsc-template/blob/main/GOVERNANCE.md" TargetMode="External"/><Relationship Id="rId7" Type="http://schemas.openxmlformats.org/officeDocument/2006/relationships/hyperlink" Target="https://tac.lfenergy.org/tools/collaboration.html" TargetMode="External"/><Relationship Id="rId8" Type="http://schemas.openxmlformats.org/officeDocument/2006/relationships/hyperlink" Target="https://github.com/lf-energy/tsc-template/blob/main/COMMITTERS.csv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bestpractices.dev/en/criteria?details=true&amp;rationale=true#1.documentation_architecture" TargetMode="External"/><Relationship Id="rId4" Type="http://schemas.openxmlformats.org/officeDocument/2006/relationships/hyperlink" Target="https://www.bestpractices.dev/en/criteria?details=true&amp;rationale=true#1.documentation_roadmap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bestpractices.dev/en/criteria?details=true&amp;rationale=true#2.bus_factor" TargetMode="External"/><Relationship Id="rId4" Type="http://schemas.openxmlformats.org/officeDocument/2006/relationships/hyperlink" Target="https://bestpractices.coreinfrastructure.org/en/criteria/1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bestpractices.coreinfrastructure.org/en/criteria/2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ctrTitle"/>
          </p:nvPr>
        </p:nvSpPr>
        <p:spPr>
          <a:xfrm>
            <a:off x="797467" y="1635171"/>
            <a:ext cx="7377900" cy="25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78571"/>
              <a:buFont typeface="Gill Sans"/>
              <a:buNone/>
            </a:pPr>
            <a:r>
              <a:rPr lang="en-US"/>
              <a:t>Annual Review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78571"/>
              <a:buFont typeface="Gill Sans"/>
              <a:buNone/>
            </a:pPr>
            <a:r>
              <a:rPr lang="en-US"/>
              <a:t>PROJECT NAME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78571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151" name="Google Shape;151;p24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2800"/>
              <a:buFont typeface="Gill Sans"/>
              <a:buNone/>
            </a:pPr>
            <a:r>
              <a:rPr lang="en-US"/>
              <a:t>Instructions (REMOVE SLIDE IN FINAL)</a:t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373800" y="1688600"/>
            <a:ext cx="11360700" cy="4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Please use this deck in preparation for your project’s annual review. Depending upon your project’s stage, the review will have different points.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Incubation project: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Review of progress towards Early Adoption Stage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Early Adoption</a:t>
            </a:r>
            <a:r>
              <a:rPr lang="en-US" sz="1800"/>
              <a:t> project: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Review of progress towards Graduated Stage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Graduated project: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Review of project maintaining positive growth and adoption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Please use the appropriate section in this deck for building the review deck. Add additional slides for addressing specific review points.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Deck must be submitted to the TAC no later than 1 week prior to the TAC meeting. When submitting, provide a few bullet points of key items to share with the TAC.</a:t>
            </a:r>
            <a:endParaRPr sz="1800"/>
          </a:p>
        </p:txBody>
      </p:sp>
      <p:sp>
        <p:nvSpPr>
          <p:cNvPr id="159" name="Google Shape;159;p2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5"/>
          <p:cNvSpPr txBox="1"/>
          <p:nvPr>
            <p:ph idx="4294967295" type="sldNum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4087500" y="147450"/>
            <a:ext cx="8104500" cy="1077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brief project description</a:t>
            </a:r>
            <a:endParaRPr i="1"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616950" y="2021750"/>
            <a:ext cx="6414600" cy="39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8" name="Google Shape;168;p26"/>
          <p:cNvSpPr/>
          <p:nvPr>
            <p:ph idx="2" type="pic"/>
          </p:nvPr>
        </p:nvSpPr>
        <p:spPr>
          <a:xfrm>
            <a:off x="-7" y="-50"/>
            <a:ext cx="3715200" cy="1367400"/>
          </a:xfrm>
          <a:prstGeom prst="rect">
            <a:avLst/>
          </a:prstGeom>
        </p:spPr>
      </p:sp>
      <p:sp>
        <p:nvSpPr>
          <p:cNvPr id="169" name="Google Shape;169;p26"/>
          <p:cNvSpPr txBox="1"/>
          <p:nvPr/>
        </p:nvSpPr>
        <p:spPr>
          <a:xfrm>
            <a:off x="1519175" y="3565275"/>
            <a:ext cx="4434900" cy="7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Pull ‘Use Case’ from project card at </a:t>
            </a:r>
            <a:r>
              <a:rPr b="1" lang="en-US" sz="1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landscape.lfenergy.org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9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616950" y="1513850"/>
            <a:ext cx="6414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Description</a:t>
            </a:r>
            <a:endParaRPr b="1" sz="2100">
              <a:solidFill>
                <a:schemeClr val="dk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8971500" y="332100"/>
            <a:ext cx="2961000" cy="7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Pull ‘Description’ from project card at </a:t>
            </a:r>
            <a:r>
              <a:rPr b="1" lang="en-US" sz="1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landscape.lfenergy.org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9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7166625" y="2021750"/>
            <a:ext cx="4271700" cy="39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3" name="Google Shape;173;p26"/>
          <p:cNvSpPr txBox="1"/>
          <p:nvPr/>
        </p:nvSpPr>
        <p:spPr>
          <a:xfrm>
            <a:off x="7166625" y="1513850"/>
            <a:ext cx="3961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Links</a:t>
            </a:r>
            <a:endParaRPr b="1" sz="2100">
              <a:solidFill>
                <a:schemeClr val="dk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8031425" y="3565275"/>
            <a:ext cx="2961000" cy="7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Pull all links from project card at </a:t>
            </a:r>
            <a:r>
              <a:rPr b="1" lang="en-US" sz="17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landscape.lfenergy.org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9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Incubation Project review criteria</a:t>
            </a:r>
            <a:endParaRPr/>
          </a:p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373800" y="1688600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To be considered for the Incubation Stage, the project must meet the following requirements:</a:t>
            </a:r>
            <a:endParaRPr sz="2100"/>
          </a:p>
          <a:p>
            <a:pPr indent="-514350" lvl="0" marL="6096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Have achieved and maintained an </a:t>
            </a:r>
            <a:r>
              <a:rPr lang="en-US" sz="2100" u="sng">
                <a:solidFill>
                  <a:schemeClr val="hlink"/>
                </a:solidFill>
                <a:hlinkClick r:id="rId3"/>
              </a:rPr>
              <a:t>OpenSSF Best Practices Badge</a:t>
            </a:r>
            <a:r>
              <a:rPr lang="en-US" sz="2100"/>
              <a:t> at the </a:t>
            </a:r>
            <a:r>
              <a:rPr lang="en-US" sz="2100" u="sng">
                <a:solidFill>
                  <a:schemeClr val="hlink"/>
                </a:solidFill>
                <a:hlinkClick r:id="rId4"/>
              </a:rPr>
              <a:t>‘Passing’ level</a:t>
            </a:r>
            <a:r>
              <a:rPr lang="en-US" sz="2100"/>
              <a:t>.</a:t>
            </a:r>
            <a:endParaRPr sz="2100"/>
          </a:p>
          <a:p>
            <a:pPr indent="-514350" lvl="0" marL="6096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Have an open and documented technical governance, including:</a:t>
            </a:r>
            <a:endParaRPr sz="2100"/>
          </a:p>
          <a:p>
            <a:pPr indent="-635000" lvl="1" marL="1219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 README file in each code repository, welcoming new community members to the project and explaining why the project is useful and how to get started (follow the guidelines at the </a:t>
            </a:r>
            <a:r>
              <a:rPr lang="en-US" sz="1600" u="sng">
                <a:solidFill>
                  <a:schemeClr val="hlink"/>
                </a:solidFill>
                <a:hlinkClick r:id="rId5"/>
              </a:rPr>
              <a:t>README checklist</a:t>
            </a:r>
            <a:r>
              <a:rPr lang="en-US" sz="1600"/>
              <a:t> to create an excellent README file).</a:t>
            </a:r>
            <a:endParaRPr sz="1600"/>
          </a:p>
          <a:p>
            <a:pPr indent="-635000" lvl="1" marL="1219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 GOVERNANCE file that documents the project’s technical governance (</a:t>
            </a:r>
            <a:r>
              <a:rPr lang="en-US" sz="1600" u="sng">
                <a:solidFill>
                  <a:schemeClr val="hlink"/>
                </a:solidFill>
                <a:hlinkClick r:id="rId6"/>
              </a:rPr>
              <a:t>template</a:t>
            </a:r>
            <a:r>
              <a:rPr lang="en-US" sz="1600"/>
              <a:t>).</a:t>
            </a:r>
            <a:endParaRPr sz="1600"/>
          </a:p>
          <a:p>
            <a:pPr indent="-635000" lvl="1" marL="1219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All current Technical Steering Committee members specified in the ‘Technical Steering Committee (TSC)’ committee in LFX Project Control Center (details on how this should be set up are </a:t>
            </a:r>
            <a:r>
              <a:rPr lang="en-US" sz="1600" u="sng">
                <a:solidFill>
                  <a:schemeClr val="hlink"/>
                </a:solidFill>
                <a:hlinkClick r:id="rId7"/>
              </a:rPr>
              <a:t>here</a:t>
            </a:r>
            <a:r>
              <a:rPr lang="en-US" sz="1600"/>
              <a:t>).</a:t>
            </a:r>
            <a:endParaRPr sz="1600"/>
          </a:p>
          <a:p>
            <a:pPr indent="-635000" lvl="1" marL="1219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 CODEOWNERS or COMMITTERS file to define individuals or teams that are responsible for code in a repository, as well as documenting current project owners and current and emeritus committers ( </a:t>
            </a:r>
            <a:r>
              <a:rPr lang="en-US" sz="1600" u="sng">
                <a:solidFill>
                  <a:schemeClr val="hlink"/>
                </a:solidFill>
                <a:hlinkClick r:id="rId8"/>
              </a:rPr>
              <a:t>template</a:t>
            </a:r>
            <a:r>
              <a:rPr lang="en-US" sz="1600"/>
              <a:t> )</a:t>
            </a:r>
            <a:endParaRPr sz="2100"/>
          </a:p>
        </p:txBody>
      </p:sp>
      <p:sp>
        <p:nvSpPr>
          <p:cNvPr id="182" name="Google Shape;182;p27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7"/>
          <p:cNvSpPr txBox="1"/>
          <p:nvPr>
            <p:ph idx="4294967295" type="sldNum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Incubation Project review criteria ( continued )</a:t>
            </a:r>
            <a:endParaRPr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373800" y="1688600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508000" lvl="0" marL="6096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Documentation of the architecture (aka high-level design) of the software produced by the project (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aligns with this OpenSSF Best Practices Silver badge requirement</a:t>
            </a:r>
            <a:r>
              <a:rPr lang="en-US" sz="2000"/>
              <a:t>).</a:t>
            </a:r>
            <a:endParaRPr sz="2000"/>
          </a:p>
          <a:p>
            <a:pPr indent="-508000" lvl="0" marL="6096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 documented roadmap that describes what the project intends to do and not do for at least the next year (</a:t>
            </a:r>
            <a:r>
              <a:rPr lang="en-US" sz="2000" u="sng">
                <a:solidFill>
                  <a:schemeClr val="hlink"/>
                </a:solidFill>
                <a:hlinkClick r:id="rId4"/>
              </a:rPr>
              <a:t>aligns with this OpenSSF Best Practices Silver badge requirement</a:t>
            </a:r>
            <a:r>
              <a:rPr lang="en-US" sz="2000"/>
              <a:t>).</a:t>
            </a:r>
            <a:endParaRPr sz="2000"/>
          </a:p>
          <a:p>
            <a:pPr indent="-508000" lvl="0" marL="6096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Community and contributor growth assessment using the data from LFX Insights. Specific metrics that will be reviewed are.</a:t>
            </a:r>
            <a:endParaRPr sz="2000"/>
          </a:p>
          <a:p>
            <a:pPr indent="-628650" lvl="1" marL="1219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Current number of contributors, committers, and different organizations contributing to the project.</a:t>
            </a:r>
            <a:endParaRPr sz="1500"/>
          </a:p>
          <a:p>
            <a:pPr indent="-628650" lvl="1" marL="1219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Flow of commits / merged contributions</a:t>
            </a:r>
            <a:endParaRPr sz="1500"/>
          </a:p>
          <a:p>
            <a:pPr indent="-508000" lvl="0" marL="6096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 credible plan for developing a thriving user community, particularly expanding the number of committers and contributors to the project.</a:t>
            </a:r>
            <a:endParaRPr sz="2000"/>
          </a:p>
          <a:p>
            <a:pPr indent="-508000" lvl="0" marL="6096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An outline of the plan for the project to complete the requirements for the Early Adoption stage.</a:t>
            </a:r>
            <a:endParaRPr sz="2000"/>
          </a:p>
        </p:txBody>
      </p:sp>
      <p:sp>
        <p:nvSpPr>
          <p:cNvPr id="191" name="Google Shape;191;p28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8"/>
          <p:cNvSpPr txBox="1"/>
          <p:nvPr>
            <p:ph idx="4294967295" type="sldNum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Early Adoption</a:t>
            </a:r>
            <a:r>
              <a:rPr lang="en-US"/>
              <a:t> Project review criteria</a:t>
            </a:r>
            <a:endParaRPr/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73800" y="1688600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be considered for the Early Adoption stage, the project must meet the following requirements: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Demonstrate growth in the project’s community, including</a:t>
            </a:r>
            <a:endParaRPr/>
          </a:p>
          <a:p>
            <a:pPr indent="-3040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/>
              <a:t>Growth in the number of commits to the project, the number of project committers, and the organizational diversity of contributions and committers.</a:t>
            </a:r>
            <a:endParaRPr/>
          </a:p>
          <a:p>
            <a:pPr indent="-3040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/>
              <a:t>Production or planned production use of the project by at least two independent end users, which, in the TAC’s judgment, are of adequate quality and scope.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Technical Governance of the project is operational, as measured by:</a:t>
            </a:r>
            <a:endParaRPr/>
          </a:p>
          <a:p>
            <a:pPr indent="-3040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/>
              <a:t>A Technical Steering Committee with at least five members and a chairperson elected by the members, holding regular open meetings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aligns with OpenSSF Best Practices Gold badge requirement</a:t>
            </a:r>
            <a:r>
              <a:rPr lang="en-US"/>
              <a:t>)</a:t>
            </a:r>
            <a:endParaRPr/>
          </a:p>
          <a:p>
            <a:pPr indent="-3040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/>
              <a:t>Achievement of the OpenSSF Best Practice badge at the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‘Silver’ Level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Development of a growth plan, to be done in conjunction with their project mentor(s) at the TAC. This plan should address the following points:</a:t>
            </a:r>
            <a:endParaRPr/>
          </a:p>
          <a:p>
            <a:pPr indent="-3040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/>
              <a:t>Release plans for the next 18 months.</a:t>
            </a:r>
            <a:endParaRPr/>
          </a:p>
          <a:p>
            <a:pPr indent="-3040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/>
              <a:t>Target end-users.</a:t>
            </a:r>
            <a:endParaRPr/>
          </a:p>
          <a:p>
            <a:pPr indent="-3040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/>
              <a:t>Identification of any regulatory or standards body requirements for deployment and implementation plans.</a:t>
            </a:r>
            <a:endParaRPr/>
          </a:p>
          <a:p>
            <a:pPr indent="-3040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/>
              <a:t>Plans for the growth of project contributors and committers to support the growth plan.</a:t>
            </a:r>
            <a:endParaRPr/>
          </a:p>
          <a:p>
            <a:pPr indent="-3040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/>
              <a:t>Identification of any infrastructure resources needed to fulfill the growth plan.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Since these metrics can vary significantly depending on the type, scope, and size of a project, the TAC has final judgment over the level of activity that is adequate to meet these criteria.</a:t>
            </a:r>
            <a:endParaRPr/>
          </a:p>
        </p:txBody>
      </p:sp>
      <p:sp>
        <p:nvSpPr>
          <p:cNvPr id="200" name="Google Shape;200;p2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9"/>
          <p:cNvSpPr txBox="1"/>
          <p:nvPr>
            <p:ph idx="4294967295" type="sldNum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Early Adoption/Graduation</a:t>
            </a:r>
            <a:r>
              <a:rPr lang="en-US"/>
              <a:t> Project review criteria</a:t>
            </a:r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373800" y="1688600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To graduate from Incubation or Early Adoption status, or for a new project to join with Graduated status, a project must meet the Early Adoption stage criteria plus: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Achievement of the OpenSSF Best Practices badge at the </a:t>
            </a:r>
            <a:r>
              <a:rPr lang="en-US" sz="2200" u="sng">
                <a:solidFill>
                  <a:schemeClr val="hlink"/>
                </a:solidFill>
                <a:hlinkClick r:id="rId3"/>
              </a:rPr>
              <a:t>‘Gold’ level</a:t>
            </a:r>
            <a:r>
              <a:rPr lang="en-US" sz="2200"/>
              <a:t>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Have fulfilled or are on track to complete the growth plan defined in the Early Adoption stage proposal.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Have a healthy number of contributions or committers from at least three organizations, with any single organization not composing more than 50% of the contributions or committers. Committers must be identified within the project in a COMMITTERS file.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Have a public list of project adopters for at least the primary repo (e.g., ADOPTERS.md or logos on the project website).</a:t>
            </a:r>
            <a:endParaRPr sz="2200"/>
          </a:p>
        </p:txBody>
      </p:sp>
      <p:sp>
        <p:nvSpPr>
          <p:cNvPr id="209" name="Google Shape;209;p30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30"/>
          <p:cNvSpPr txBox="1"/>
          <p:nvPr>
            <p:ph idx="4294967295" type="sldNum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525" y="1603917"/>
            <a:ext cx="3549451" cy="3425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4500" y="1603926"/>
            <a:ext cx="7270620" cy="342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1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Contributions</a:t>
            </a:r>
            <a:endParaRPr/>
          </a:p>
        </p:txBody>
      </p:sp>
      <p:sp>
        <p:nvSpPr>
          <p:cNvPr id="219" name="Google Shape;219;p31"/>
          <p:cNvSpPr txBox="1"/>
          <p:nvPr/>
        </p:nvSpPr>
        <p:spPr>
          <a:xfrm>
            <a:off x="3854250" y="2935675"/>
            <a:ext cx="4483500" cy="477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UPDATE FROM LFX INSIGHTS</a:t>
            </a:r>
            <a:endParaRPr b="1" sz="19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0" name="Google Shape;220;p3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31"/>
          <p:cNvSpPr txBox="1"/>
          <p:nvPr>
            <p:ph idx="4294967295" type="sldNum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Organizations contributing and/or using in production</a:t>
            </a:r>
            <a:endParaRPr/>
          </a:p>
        </p:txBody>
      </p:sp>
      <p:sp>
        <p:nvSpPr>
          <p:cNvPr id="228" name="Google Shape;228;p32"/>
          <p:cNvSpPr txBox="1"/>
          <p:nvPr>
            <p:ph idx="1" type="body"/>
          </p:nvPr>
        </p:nvSpPr>
        <p:spPr>
          <a:xfrm>
            <a:off x="373800" y="3594550"/>
            <a:ext cx="11360700" cy="607200"/>
          </a:xfrm>
          <a:prstGeom prst="rect">
            <a:avLst/>
          </a:prstGeom>
          <a:solidFill>
            <a:srgbClr val="FF0000"/>
          </a:solidFill>
        </p:spPr>
        <p:txBody>
          <a:bodyPr anchorCtr="0" anchor="ctr" bIns="121900" lIns="121900" spcFirstLastPara="1" rIns="121900" wrap="square" tIns="1219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Provide list of org</a:t>
            </a:r>
            <a:r>
              <a:rPr b="1" lang="en-US">
                <a:solidFill>
                  <a:srgbClr val="FFFFFF"/>
                </a:solidFill>
              </a:rPr>
              <a:t>anizations, with logos if available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9" name="Google Shape;229;p3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32"/>
          <p:cNvSpPr txBox="1"/>
          <p:nvPr>
            <p:ph idx="4294967295" type="sldNum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Achievements in the past year</a:t>
            </a:r>
            <a:endParaRPr/>
          </a:p>
        </p:txBody>
      </p:sp>
      <p:sp>
        <p:nvSpPr>
          <p:cNvPr id="237" name="Google Shape;237;p33"/>
          <p:cNvSpPr txBox="1"/>
          <p:nvPr>
            <p:ph idx="1" type="body"/>
          </p:nvPr>
        </p:nvSpPr>
        <p:spPr>
          <a:xfrm>
            <a:off x="373800" y="1688600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3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3"/>
          <p:cNvSpPr txBox="1"/>
          <p:nvPr>
            <p:ph idx="4294967295" type="sldNum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Areas the project could use help on</a:t>
            </a:r>
            <a:endParaRPr/>
          </a:p>
        </p:txBody>
      </p:sp>
      <p:sp>
        <p:nvSpPr>
          <p:cNvPr id="246" name="Google Shape;246;p34"/>
          <p:cNvSpPr txBox="1"/>
          <p:nvPr>
            <p:ph idx="1" type="body"/>
          </p:nvPr>
        </p:nvSpPr>
        <p:spPr>
          <a:xfrm>
            <a:off x="373800" y="1688600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4"/>
          <p:cNvSpPr txBox="1"/>
          <p:nvPr>
            <p:ph idx="4294967295" type="sldNum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Feedback on working with LF Energy</a:t>
            </a:r>
            <a:endParaRPr/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373800" y="1688600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35"/>
          <p:cNvSpPr txBox="1"/>
          <p:nvPr>
            <p:ph idx="4294967295" type="sldNum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F Energy Project Annual Review Template 2023">
  <a:themeElements>
    <a:clrScheme name="Geometric">
      <a:dk1>
        <a:srgbClr val="222222"/>
      </a:dk1>
      <a:lt1>
        <a:srgbClr val="FFFFFF"/>
      </a:lt1>
      <a:dk2>
        <a:srgbClr val="434343"/>
      </a:dk2>
      <a:lt2>
        <a:srgbClr val="999999"/>
      </a:lt2>
      <a:accent1>
        <a:srgbClr val="003778"/>
      </a:accent1>
      <a:accent2>
        <a:srgbClr val="0094FF"/>
      </a:accent2>
      <a:accent3>
        <a:srgbClr val="5B1DE7"/>
      </a:accent3>
      <a:accent4>
        <a:srgbClr val="12E2E2"/>
      </a:accent4>
      <a:accent5>
        <a:srgbClr val="FF00AA"/>
      </a:accent5>
      <a:accent6>
        <a:srgbClr val="ACDE1F"/>
      </a:accent6>
      <a:hlink>
        <a:srgbClr val="0077CC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